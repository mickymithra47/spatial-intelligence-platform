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005840"/>
            <a:ext cx="3474720" cy="347472"/>
          </a:xfrm>
          <a:prstGeom prst="roundRect">
            <a:avLst/>
          </a:prstGeom>
          <a:solidFill>
            <a:srgbClr val="0C203C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E5FF"/>
                </a:solidFill>
                <a:latin typeface="Segoe UI"/>
              </a:defRPr>
            </a:pPr>
            <a:r>
              <a:t>DEEP-TECH INVESTOR PITCH | INDUSTRIAL MEET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85800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AI THAT UNDERSTANDS</a:t>
            </a:r>
            <a:br/>
            <a:r>
              <a:t>THE PHYSICAL WORLD</a:t>
            </a:r>
          </a:p>
          <a:p>
            <a:pPr>
              <a:defRPr sz="1600" b="1">
                <a:solidFill>
                  <a:srgbClr val="00E5FF"/>
                </a:solidFill>
                <a:latin typeface="Segoe UI"/>
              </a:defRPr>
            </a:pPr>
            <a:r>
              <a:t>Spatial Intelligence Platform for Smart Campuses &amp; Enterprises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6217920" cy="68580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“ Ask it.  Find it.  Understand it.  Act on it. 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965960" cy="100584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spcAft>
                <a:spcPts val="400"/>
              </a:spcAft>
              <a:defRPr sz="900" b="1">
                <a:solidFill>
                  <a:srgbClr val="94A3B8"/>
                </a:solidFill>
                <a:latin typeface="Segoe UI"/>
              </a:defRPr>
            </a:pPr>
            <a:r>
              <a:t>INITIAL TARGET</a:t>
            </a:r>
          </a:p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Smart University Campuses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39" y="4572000"/>
            <a:ext cx="1965960" cy="100584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spcAft>
                <a:spcPts val="400"/>
              </a:spcAft>
              <a:defRPr sz="900" b="1">
                <a:solidFill>
                  <a:srgbClr val="94A3B8"/>
                </a:solidFill>
                <a:latin typeface="Segoe UI"/>
              </a:defRPr>
            </a:pPr>
            <a:r>
              <a:t>ENTERPRISE VISION</a:t>
            </a:r>
          </a:p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Industrial &amp; Corporate Spaces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59" y="4572000"/>
            <a:ext cx="1965960" cy="100584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spcAft>
                <a:spcPts val="400"/>
              </a:spcAft>
              <a:defRPr sz="900" b="1">
                <a:solidFill>
                  <a:srgbClr val="94A3B8"/>
                </a:solidFill>
                <a:latin typeface="Segoe UI"/>
              </a:defRPr>
            </a:pPr>
            <a:r>
              <a:t>CORE INNOVATION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Spatial Knowledge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[TEAM NAME]   |   [COLLEGE NAME]   |   FOUNDERS: [TEAM MEMBERS]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[STARTUP NAME] | SPATIAL INTELLIGENCE PLATFORM            CONFIDENTIAL INVESTOR PRESENTATION            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0A1C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  <a:latin typeface="Segoe UI"/>
              </a:defRPr>
            </a:pPr>
            <a:r>
              <a:t>01 | THE REAL-WORLD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Segoe UI"/>
              </a:defRPr>
            </a:pPr>
            <a:r>
              <a:t>THE PHYSICAL WORLD IS FULL OF INFORMATION.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Yet campus operations, assets, and spaces remain trapped in isolated digital and analog silos.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120640" cy="3749039"/>
          </a:xfrm>
          <a:prstGeom prst="roundRect">
            <a:avLst/>
          </a:prstGeom>
          <a:solidFill>
            <a:srgbClr val="0B111E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DISCONNECTED PHYSICAL DATA SILOS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1371600" cy="347472"/>
          </a:xfrm>
          <a:prstGeom prst="roundRect">
            <a:avLst/>
          </a:prstGeom>
          <a:solidFill>
            <a:srgbClr val="121D34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A78BFA"/>
                </a:solidFill>
                <a:latin typeface="Segoe UI"/>
              </a:defRPr>
            </a:pPr>
            <a:r>
              <a:t>CAMPUS MAPS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331720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Static image files, printed boards, or generic GPS blind to interiors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16352"/>
            <a:ext cx="1371600" cy="347472"/>
          </a:xfrm>
          <a:prstGeom prst="roundRect">
            <a:avLst/>
          </a:prstGeom>
          <a:solidFill>
            <a:srgbClr val="121D34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A78BFA"/>
                </a:solidFill>
                <a:latin typeface="Segoe UI"/>
              </a:defRPr>
            </a:pPr>
            <a:r>
              <a:t>TIMETABLES &amp; ERP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770632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Class schedules locked in legacy portal tables and PDF circulars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55264"/>
            <a:ext cx="1371600" cy="347472"/>
          </a:xfrm>
          <a:prstGeom prst="roundRect">
            <a:avLst/>
          </a:prstGeom>
          <a:solidFill>
            <a:srgbClr val="121D34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A78BFA"/>
                </a:solidFill>
                <a:latin typeface="Segoe UI"/>
              </a:defRPr>
            </a:pPr>
            <a:r>
              <a:t>ROOM &amp; SPACE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209544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Unsynchronized registrar spreadsheets with zero live occupancy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94176"/>
            <a:ext cx="1371600" cy="347472"/>
          </a:xfrm>
          <a:prstGeom prst="roundRect">
            <a:avLst/>
          </a:prstGeom>
          <a:solidFill>
            <a:srgbClr val="121D34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A78BFA"/>
                </a:solidFill>
                <a:latin typeface="Segoe UI"/>
              </a:defRPr>
            </a:pPr>
            <a:r>
              <a:t>EQUIPMENT DATABASES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648456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Isolated lab inventories with unknown operating conditions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371600" cy="347472"/>
          </a:xfrm>
          <a:prstGeom prst="roundRect">
            <a:avLst/>
          </a:prstGeom>
          <a:solidFill>
            <a:srgbClr val="121D34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A78BFA"/>
                </a:solidFill>
                <a:latin typeface="Segoe UI"/>
              </a:defRPr>
            </a:pPr>
            <a:r>
              <a:t>MAINTENANCE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087367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Bureaucratic ticketing desks detached from user spatial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572000"/>
            <a:ext cx="1371600" cy="347472"/>
          </a:xfrm>
          <a:prstGeom prst="roundRect">
            <a:avLst/>
          </a:prstGeom>
          <a:solidFill>
            <a:srgbClr val="121D34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A78BFA"/>
                </a:solidFill>
                <a:latin typeface="Segoe UI"/>
              </a:defRPr>
            </a:pPr>
            <a:r>
              <a:t>NOTICE BOARDS &amp; PDFs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526280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Critical announcements buried across walls and WhatsApp chats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10912"/>
            <a:ext cx="1371600" cy="347472"/>
          </a:xfrm>
          <a:prstGeom prst="roundRect">
            <a:avLst/>
          </a:prstGeom>
          <a:solidFill>
            <a:srgbClr val="121D34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A78BFA"/>
                </a:solidFill>
                <a:latin typeface="Segoe UI"/>
              </a:defRPr>
            </a:pPr>
            <a:r>
              <a:t>ACCESS &amp; FACILITY 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965192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Proprietary door/RFID systems that don't speak to navigation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874519"/>
            <a:ext cx="5212080" cy="3749039"/>
          </a:xfrm>
          <a:prstGeom prst="roundRect">
            <a:avLst/>
          </a:prstGeom>
          <a:solidFill>
            <a:srgbClr val="0B111E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9659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THE DAILY FRICTION FOR STUDENTS, FACULTY &amp; STAFF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377440"/>
            <a:ext cx="4846320" cy="4572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23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109728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"Where is Block C, Room 304?"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→ Impact: Lost visitors, late students, 10-15 minutes wasted searching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889504"/>
            <a:ext cx="4846320" cy="4572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23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109728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"Which lab has available GPU machines?"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→ Impact: Students roam between floors hoping to find an open workstation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401568"/>
            <a:ext cx="4846320" cy="4572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23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109728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"Is the projector in Hall 2 operational?"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→ Impact: Professors arrive to defective equipment, halting lectures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913632"/>
            <a:ext cx="4846320" cy="4572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23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109728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"How do I report this broken air conditioner?"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→ Impact: Manual phone calls or complex multi-day ticketing delays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425696"/>
            <a:ext cx="4846320" cy="4572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23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109728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"What is the step-free route to AI Lab 2?"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→ Impact: Zero accessibility awareness in static campus blueprints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937760"/>
            <a:ext cx="4846320" cy="4572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23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109728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"Who has authorized access to Server Room B?"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→ Impact: Fragmented security logs unable to correlate live location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715000"/>
            <a:ext cx="10698480" cy="621792"/>
          </a:xfrm>
          <a:prstGeom prst="roundRect">
            <a:avLst/>
          </a:prstGeom>
          <a:solidFill>
            <a:srgbClr val="121C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CORE REALITY: "Information exists everywhere — but spatial intelligence is entirely fragmented."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[STARTUP NAME] | SPATIAL INTELLIGENCE PLATFORM            CONFIDENTIAL INVESTOR PRESENTATION            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0A1C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  <a:latin typeface="Segoe UI"/>
              </a:defRPr>
            </a:pPr>
            <a:r>
              <a:t>02 | LANDSCAPE &amp; 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Segoe UI"/>
              </a:defRPr>
            </a:pPr>
            <a:r>
              <a:t>TODAY, THE PIECES EXIST. THEY ARE JUST DISCONNECTED.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Individual point solutions solve isolated tasks, leaving a massive spatial intelligence void.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011680" cy="292608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09728" rIns="109728"/>
          <a:lstStyle/>
          <a:p>
            <a:pPr algn="ctr">
              <a:spcAft>
                <a:spcPts val="200"/>
              </a:spcAft>
              <a:defRPr sz="1100" b="1">
                <a:solidFill>
                  <a:srgbClr val="00E5FF"/>
                </a:solidFill>
                <a:latin typeface="Segoe UI"/>
              </a:defRPr>
            </a:pPr>
            <a:r>
              <a:t>CAMPUS MAPS</a:t>
            </a:r>
          </a:p>
          <a:p>
            <a:pPr>
              <a:spcAft>
                <a:spcPts val="10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Point: Navigation</a:t>
            </a:r>
          </a:p>
          <a:p>
            <a:pPr>
              <a:defRPr sz="800" b="1">
                <a:solidFill>
                  <a:srgbClr val="FFFFFF"/>
                </a:solidFill>
                <a:latin typeface="Segoe UI"/>
              </a:defRPr>
            </a:pPr>
            <a:r>
              <a:t>WHAT IT DOES:</a:t>
            </a:r>
          </a:p>
          <a:p>
            <a:pPr>
              <a:spcAft>
                <a:spcPts val="800"/>
              </a:spcAft>
              <a:defRPr sz="900">
                <a:solidFill>
                  <a:srgbClr val="E2E8F0"/>
                </a:solidFill>
                <a:latin typeface="Segoe UI"/>
              </a:defRPr>
            </a:pPr>
            <a:r>
              <a:t>Shows 2D coordinates &amp; outdoor roads.</a:t>
            </a:r>
          </a:p>
          <a:p>
            <a:pPr>
              <a:defRPr sz="800" b="1">
                <a:solidFill>
                  <a:srgbClr val="F59E0B"/>
                </a:solidFill>
                <a:latin typeface="Segoe UI"/>
              </a:defRPr>
            </a:pPr>
            <a:r>
              <a:t>THE LIMITATION: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Blind to indoor assets, schedules, or room health.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920240"/>
            <a:ext cx="2011680" cy="292608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09728" rIns="109728"/>
          <a:lstStyle/>
          <a:p>
            <a:pPr algn="ctr">
              <a:spcAft>
                <a:spcPts val="200"/>
              </a:spcAft>
              <a:defRPr sz="1100" b="1">
                <a:solidFill>
                  <a:srgbClr val="A78BFA"/>
                </a:solidFill>
                <a:latin typeface="Segoe UI"/>
              </a:defRPr>
            </a:pPr>
            <a:r>
              <a:t>AI CHATBOTS</a:t>
            </a:r>
          </a:p>
          <a:p>
            <a:pPr>
              <a:spcAft>
                <a:spcPts val="10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Point: General Info</a:t>
            </a:r>
          </a:p>
          <a:p>
            <a:pPr>
              <a:defRPr sz="800" b="1">
                <a:solidFill>
                  <a:srgbClr val="FFFFFF"/>
                </a:solidFill>
                <a:latin typeface="Segoe UI"/>
              </a:defRPr>
            </a:pPr>
            <a:r>
              <a:t>WHAT IT DOES:</a:t>
            </a:r>
          </a:p>
          <a:p>
            <a:pPr>
              <a:spcAft>
                <a:spcPts val="800"/>
              </a:spcAft>
              <a:defRPr sz="900">
                <a:solidFill>
                  <a:srgbClr val="E2E8F0"/>
                </a:solidFill>
                <a:latin typeface="Segoe UI"/>
              </a:defRPr>
            </a:pPr>
            <a:r>
              <a:t>Answers static FAQ queries via LLMs.</a:t>
            </a:r>
          </a:p>
          <a:p>
            <a:pPr>
              <a:defRPr sz="800" b="1">
                <a:solidFill>
                  <a:srgbClr val="F59E0B"/>
                </a:solidFill>
                <a:latin typeface="Segoe UI"/>
              </a:defRPr>
            </a:pPr>
            <a:r>
              <a:t>THE LIMITATION: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Completely detached from physical spatial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920240"/>
            <a:ext cx="2011680" cy="292608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09728" rIns="109728"/>
          <a:lstStyle/>
          <a:p>
            <a:pPr algn="ctr">
              <a:spcAft>
                <a:spcPts val="200"/>
              </a:spcAft>
              <a:defRPr sz="1100" b="1">
                <a:solidFill>
                  <a:srgbClr val="00B4D8"/>
                </a:solidFill>
                <a:latin typeface="Segoe UI"/>
              </a:defRPr>
            </a:pPr>
            <a:r>
              <a:t>DIGITAL TWINS</a:t>
            </a:r>
          </a:p>
          <a:p>
            <a:pPr>
              <a:spcAft>
                <a:spcPts val="10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Point: 3D CAD Views</a:t>
            </a:r>
          </a:p>
          <a:p>
            <a:pPr>
              <a:defRPr sz="800" b="1">
                <a:solidFill>
                  <a:srgbClr val="FFFFFF"/>
                </a:solidFill>
                <a:latin typeface="Segoe UI"/>
              </a:defRPr>
            </a:pPr>
            <a:r>
              <a:t>WHAT IT DOES:</a:t>
            </a:r>
          </a:p>
          <a:p>
            <a:pPr>
              <a:spcAft>
                <a:spcPts val="800"/>
              </a:spcAft>
              <a:defRPr sz="900">
                <a:solidFill>
                  <a:srgbClr val="E2E8F0"/>
                </a:solidFill>
                <a:latin typeface="Segoe UI"/>
              </a:defRPr>
            </a:pPr>
            <a:r>
              <a:t>Complex 3D models for architects &amp; BIM.</a:t>
            </a:r>
          </a:p>
          <a:p>
            <a:pPr>
              <a:defRPr sz="800" b="1">
                <a:solidFill>
                  <a:srgbClr val="F59E0B"/>
                </a:solidFill>
                <a:latin typeface="Segoe UI"/>
              </a:defRPr>
            </a:pPr>
            <a:r>
              <a:t>THE LIMITATION: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Heavy, expensive, unusable for everyday people.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920240"/>
            <a:ext cx="2011680" cy="292608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09728" rIns="109728"/>
          <a:lstStyle/>
          <a:p>
            <a:pPr algn="ctr">
              <a:spcAft>
                <a:spcPts val="2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IoT SENSORS</a:t>
            </a:r>
          </a:p>
          <a:p>
            <a:pPr>
              <a:spcAft>
                <a:spcPts val="10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Point: Live Telemetry</a:t>
            </a:r>
          </a:p>
          <a:p>
            <a:pPr>
              <a:defRPr sz="800" b="1">
                <a:solidFill>
                  <a:srgbClr val="FFFFFF"/>
                </a:solidFill>
                <a:latin typeface="Segoe UI"/>
              </a:defRPr>
            </a:pPr>
            <a:r>
              <a:t>WHAT IT DOES:</a:t>
            </a:r>
          </a:p>
          <a:p>
            <a:pPr>
              <a:spcAft>
                <a:spcPts val="800"/>
              </a:spcAft>
              <a:defRPr sz="900">
                <a:solidFill>
                  <a:srgbClr val="E2E8F0"/>
                </a:solidFill>
                <a:latin typeface="Segoe UI"/>
              </a:defRPr>
            </a:pPr>
            <a:r>
              <a:t>Streams raw temperatures &amp; counts.</a:t>
            </a:r>
          </a:p>
          <a:p>
            <a:pPr>
              <a:defRPr sz="800" b="1">
                <a:solidFill>
                  <a:srgbClr val="F59E0B"/>
                </a:solidFill>
                <a:latin typeface="Segoe UI"/>
              </a:defRPr>
            </a:pPr>
            <a:r>
              <a:t>THE LIMITATION: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Raw metrics trapped in engineering dashboards.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1920240"/>
            <a:ext cx="2011680" cy="292608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09728" rIns="109728"/>
          <a:lstStyle/>
          <a:p>
            <a:pPr algn="ctr"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FACILITY ERP</a:t>
            </a:r>
          </a:p>
          <a:p>
            <a:pPr>
              <a:spcAft>
                <a:spcPts val="10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Point: Operations</a:t>
            </a:r>
          </a:p>
          <a:p>
            <a:pPr>
              <a:defRPr sz="800" b="1">
                <a:solidFill>
                  <a:srgbClr val="FFFFFF"/>
                </a:solidFill>
                <a:latin typeface="Segoe UI"/>
              </a:defRPr>
            </a:pPr>
            <a:r>
              <a:t>WHAT IT DOES:</a:t>
            </a:r>
          </a:p>
          <a:p>
            <a:pPr>
              <a:spcAft>
                <a:spcPts val="800"/>
              </a:spcAft>
              <a:defRPr sz="900">
                <a:solidFill>
                  <a:srgbClr val="E2E8F0"/>
                </a:solidFill>
                <a:latin typeface="Segoe UI"/>
              </a:defRPr>
            </a:pPr>
            <a:r>
              <a:t>Stores maintenance tickets &amp; timetables.</a:t>
            </a:r>
          </a:p>
          <a:p>
            <a:pPr>
              <a:defRPr sz="800" b="1">
                <a:solidFill>
                  <a:srgbClr val="F59E0B"/>
                </a:solidFill>
                <a:latin typeface="Segoe UI"/>
              </a:defRPr>
            </a:pPr>
            <a:r>
              <a:t>THE LIMITATION: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Isolated back-office portals with no live link.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83480"/>
            <a:ext cx="10728655" cy="777240"/>
          </a:xfrm>
          <a:prstGeom prst="roundRect">
            <a:avLst/>
          </a:prstGeom>
          <a:solidFill>
            <a:srgbClr val="1812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200"/>
              </a:spcAft>
              <a:defRPr sz="1200" b="1">
                <a:solidFill>
                  <a:srgbClr val="00E5FF"/>
                </a:solidFill>
                <a:latin typeface="Segoe UI"/>
              </a:defRPr>
            </a:pPr>
            <a:r>
              <a:t>THE CRITICAL GAP: NO SINGLE INTELLIGENCE LAYER CONNECTING THEM ALL</a:t>
            </a:r>
          </a:p>
          <a:p>
            <a:pPr algn="ctr">
              <a:defRPr sz="1000">
                <a:solidFill>
                  <a:srgbClr val="E2E8F0"/>
                </a:solidFill>
                <a:latin typeface="Segoe UI"/>
              </a:defRPr>
            </a:pPr>
            <a:r>
              <a:t>"Existing point solutions address individual layers. Our opportunity is to unify physical information, live telemetry, and human operations into one autonomous platform."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[STARTUP NAME] | SPATIAL INTELLIGENCE PLATFORM            CONFIDENTIAL INVESTOR PRESENTATION            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0A1C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  <a:latin typeface="Segoe UI"/>
              </a:defRPr>
            </a:pPr>
            <a:r>
              <a:t>03 |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Segoe UI"/>
              </a:defRPr>
            </a:pPr>
            <a:r>
              <a:t>MEET [STARTUP NAME] — A SPATIAL INTELLIGENCE PLATFORM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An AI brain that unifies physical spaces, live asset conditions, schedules, and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920240"/>
            <a:ext cx="3566160" cy="3657600"/>
          </a:xfrm>
          <a:prstGeom prst="roundRect">
            <a:avLst/>
          </a:prstGeom>
          <a:solidFill>
            <a:srgbClr val="101A3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182880" rIns="182880"/>
          <a:lstStyle/>
          <a:p>
            <a:pPr algn="ctr">
              <a:spcAft>
                <a:spcPts val="400"/>
              </a:spcAft>
              <a:defRPr sz="2000" b="1">
                <a:solidFill>
                  <a:srgbClr val="00E5FF"/>
                </a:solidFill>
                <a:latin typeface="Segoe UI"/>
              </a:defRPr>
            </a:pPr>
            <a:r>
              <a:t>[STARTUP NAME]</a:t>
            </a:r>
          </a:p>
          <a:p>
            <a:pPr algn="ctr">
              <a:spcAft>
                <a:spcPts val="1400"/>
              </a:spcAft>
              <a:defRPr sz="1000" b="1">
                <a:solidFill>
                  <a:srgbClr val="A78BFA"/>
                </a:solidFill>
                <a:latin typeface="Segoe UI"/>
              </a:defRPr>
            </a:pPr>
            <a:r>
              <a:t>SPATIAL INTELLIGENCE CORE</a:t>
            </a:r>
          </a:p>
          <a:p>
            <a:pPr>
              <a:spcAft>
                <a:spcPts val="1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Dynamic Spatial Graph</a:t>
            </a:r>
            <a:br/>
            <a:r>
              <a:t>• Real-Time Context Engine</a:t>
            </a:r>
            <a:br/>
            <a:r>
              <a:t>• Multi-Modal Ingestion Bus</a:t>
            </a:r>
            <a:br/>
            <a:r>
              <a:t>• Natural Language Orchestrator</a:t>
            </a:r>
            <a:br/>
            <a:r>
              <a:t>• Autonomous Action Agents</a:t>
            </a:r>
          </a:p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AI FOR PHYSICAL SPACES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1115568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09728" rIns="109728"/>
          <a:lstStyle/>
          <a:p>
            <a:pPr algn="ctr">
              <a:spcAft>
                <a:spcPts val="300"/>
              </a:spcAft>
              <a:defRPr sz="1000" b="1">
                <a:solidFill>
                  <a:srgbClr val="00E5FF"/>
                </a:solidFill>
                <a:latin typeface="Segoe UI"/>
              </a:defRPr>
            </a:pPr>
            <a:r>
              <a:t>WHERE  |  Spatial Coordinates &amp; Topology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Buildings, floors, rooms, labs, corridors, 3D indoor geometry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3383280" cy="1115568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09728" rIns="109728"/>
          <a:lstStyle/>
          <a:p>
            <a:pPr algn="ctr">
              <a:spcAft>
                <a:spcPts val="300"/>
              </a:spcAft>
              <a:defRPr sz="1000" b="1">
                <a:solidFill>
                  <a:srgbClr val="A78BFA"/>
                </a:solidFill>
                <a:latin typeface="Segoe UI"/>
              </a:defRPr>
            </a:pPr>
            <a:r>
              <a:t>WHAT  |  Asset &amp; Infrastructure Registry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Computers, projectors, lab apparatus, safety devices, HVAC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3383280" cy="1115568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09728" rIns="109728"/>
          <a:lstStyle/>
          <a:p>
            <a:pPr algn="ctr">
              <a:spcAft>
                <a:spcPts val="300"/>
              </a:spcAft>
              <a:defRPr sz="1000" b="1">
                <a:solidFill>
                  <a:srgbClr val="00B4D8"/>
                </a:solidFill>
                <a:latin typeface="Segoe UI"/>
              </a:defRPr>
            </a:pPr>
            <a:r>
              <a:t>WHEN  |  Temporal &amp; Schedule State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Lecture timetables, room bookings, reservations, calendar sync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920240"/>
            <a:ext cx="3383280" cy="1115568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09728" rIns="109728"/>
          <a:lstStyle/>
          <a:p>
            <a:pPr algn="ctr">
              <a:spcAft>
                <a:spcPts val="3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STATE  |  Operational &amp; Health Status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Operational, broken, occupied, vacant, under-service, calibrated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154680"/>
            <a:ext cx="3383280" cy="1115568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09728" rIns="109728"/>
          <a:lstStyle/>
          <a:p>
            <a:pPr algn="ctr">
              <a:spcAft>
                <a:spcPts val="3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HOW  |  Context-Aware Navigation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Turn-by-turn indoor routing, accessible paths, emergency exits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389120"/>
            <a:ext cx="3383280" cy="1115568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09728" rIns="109728"/>
          <a:lstStyle/>
          <a:p>
            <a:pPr algn="ctr">
              <a:spcAft>
                <a:spcPts val="300"/>
              </a:spcAft>
              <a:defRPr sz="1000" b="1">
                <a:solidFill>
                  <a:srgbClr val="00E5FF"/>
                </a:solidFill>
                <a:latin typeface="Segoe UI"/>
              </a:defRPr>
            </a:pPr>
            <a:r>
              <a:t>ACTION  |  Autonomous Operational Loop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Create tickets, reserve seats, notify technicians, track resolution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60720"/>
            <a:ext cx="10698480" cy="566928"/>
          </a:xfrm>
          <a:prstGeom prst="roundRect">
            <a:avLst/>
          </a:prstGeom>
          <a:solidFill>
            <a:srgbClr val="0A182E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“ We don’t just map a campus. We make it intelligent. 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[STARTUP NAME] | SPATIAL INTELLIGENCE PLATFORM            CONFIDENTIAL INVESTOR PRESENTATION            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0A1C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  <a:latin typeface="Segoe UI"/>
              </a:defRPr>
            </a:pPr>
            <a:r>
              <a:t>04 | PRODUCT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Segoe UI"/>
              </a:defRPr>
            </a:pPr>
            <a:r>
              <a:t>TALK TO YOUR CAMPUS LIKE YOU TALK TO CHATGPT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Natural conversational interface backed by live spatial knowledge and autonomous workflow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6217920" cy="3840480"/>
          </a:xfrm>
          <a:prstGeom prst="roundRect">
            <a:avLst/>
          </a:prstGeom>
          <a:solidFill>
            <a:srgbClr val="0B101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6217920" cy="384048"/>
          </a:xfrm>
          <a:prstGeom prst="rect">
            <a:avLst/>
          </a:prstGeom>
          <a:solidFill>
            <a:srgbClr val="10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E5FF"/>
                </a:solidFill>
                <a:latin typeface="Segoe UI"/>
              </a:defRPr>
            </a:pPr>
            <a:r>
              <a:t>  ●  [STARTUP NAME] CAMPUS COPILOT  |  Live Spatial Mesh: CONNECTED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331720"/>
            <a:ext cx="3657600" cy="329184"/>
          </a:xfrm>
          <a:prstGeom prst="roundRect">
            <a:avLst/>
          </a:prstGeom>
          <a:solidFill>
            <a:srgbClr val="182644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>
                <a:solidFill>
                  <a:srgbClr val="FFFFFF"/>
                </a:solidFill>
                <a:latin typeface="Segoe UI"/>
              </a:defRPr>
            </a:pPr>
            <a:r>
              <a:t>STUDENT: Where is my next class?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34056"/>
            <a:ext cx="4754880" cy="621792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 rIns="109728"/>
          <a:lstStyle/>
          <a:p>
            <a:pPr algn="ctr">
              <a:defRPr sz="850">
                <a:solidFill>
                  <a:srgbClr val="00E5FF"/>
                </a:solidFill>
                <a:latin typeface="Segoe UI"/>
              </a:defRPr>
            </a:pPr>
            <a:r>
              <a:t>AI: Your next class is AI Lab 2 in Block B, 2nd floor.</a:t>
            </a:r>
            <a:br/>
            <a:r>
              <a:t>It's approximately a 4-minute walk from your current location. [📍 View Route]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3447288"/>
            <a:ext cx="3657600" cy="329184"/>
          </a:xfrm>
          <a:prstGeom prst="roundRect">
            <a:avLst/>
          </a:prstGeom>
          <a:solidFill>
            <a:srgbClr val="182644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>
                <a:solidFill>
                  <a:srgbClr val="FFFFFF"/>
                </a:solidFill>
                <a:latin typeface="Segoe UI"/>
              </a:defRPr>
            </a:pPr>
            <a:r>
              <a:t>STUDENT: Does the lab have working computers?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9624"/>
            <a:ext cx="4754880" cy="621792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 rIns="109728"/>
          <a:lstStyle/>
          <a:p>
            <a:pPr algn="ctr">
              <a:defRPr sz="850">
                <a:solidFill>
                  <a:srgbClr val="00E5FF"/>
                </a:solidFill>
                <a:latin typeface="Segoe UI"/>
              </a:defRPr>
            </a:pPr>
            <a:r>
              <a:t>AI: The lab contains 40 workstations: 35 are operational and 5 are currently under maintenance. [🖥️ View Live Availability]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4562856"/>
            <a:ext cx="3657600" cy="329184"/>
          </a:xfrm>
          <a:prstGeom prst="roundRect">
            <a:avLst/>
          </a:prstGeom>
          <a:solidFill>
            <a:srgbClr val="182644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>
                <a:solidFill>
                  <a:srgbClr val="FFFFFF"/>
                </a:solidFill>
                <a:latin typeface="Segoe UI"/>
              </a:defRPr>
            </a:pPr>
            <a:r>
              <a:t>STUDENT: Report the broken projector in AI Lab 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965192"/>
            <a:ext cx="4754880" cy="621792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 rIns="109728"/>
          <a:lstStyle/>
          <a:p>
            <a:pPr algn="ctr">
              <a:defRPr sz="850">
                <a:solidFill>
                  <a:srgbClr val="00E5FF"/>
                </a:solidFill>
                <a:latin typeface="Segoe UI"/>
              </a:defRPr>
            </a:pPr>
            <a:r>
              <a:t>AI: Maintenance ticket #184 created and auto-dispatched to the Lab Administrator. Priority: High. [⚡ Track Status]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874519"/>
            <a:ext cx="4297680" cy="3840480"/>
          </a:xfrm>
          <a:prstGeom prst="roundRect">
            <a:avLst/>
          </a:prstGeom>
          <a:solidFill>
            <a:srgbClr val="0C1220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96596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WHY THIS EXPERIENCE IS REVOLUTIONARY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377440"/>
            <a:ext cx="3931920" cy="6858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 rIns="109728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Zero Learning Curve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Anyone can ask in natural conversational language. No manual PDF reading or searching floor directories.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154680"/>
            <a:ext cx="3931920" cy="6858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 rIns="109728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Multi-Layer Context Reasoning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The AI correlates student timetable + current user GPS/beacon coordinates + equipment maintenance records simultaneously.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931920"/>
            <a:ext cx="3931920" cy="6858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 rIns="109728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Autonomous Operational Dispatch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Instead of just generating text, the platform executes real physical actions (ticketing, booking, alerting administrators).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709160"/>
            <a:ext cx="3931920" cy="6858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 rIns="109728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Cross-Persona Accessibility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Built for students, professors, maintenance technicians, facility directors, and emergency responders.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833872"/>
            <a:ext cx="10698480" cy="502920"/>
          </a:xfrm>
          <a:prstGeom prst="roundRect">
            <a:avLst/>
          </a:prstGeom>
          <a:solidFill>
            <a:srgbClr val="0E19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5FF"/>
                </a:solidFill>
                <a:latin typeface="Segoe UI"/>
              </a:defRPr>
            </a:pPr>
            <a:r>
              <a:t>THE AUTONOMOUS FLYWHEEL:    ASK  →  UNDERSTAND  →  KNOW  →  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[STARTUP NAME] | SPATIAL INTELLIGENCE PLATFORM            CONFIDENTIAL INVESTOR PRESENTATION            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0A1C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  <a:latin typeface="Segoe UI"/>
              </a:defRPr>
            </a:pPr>
            <a:r>
              <a:t>05 | DEEP-TECH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Segoe UI"/>
              </a:defRPr>
            </a:pPr>
            <a:r>
              <a:t>THE INTELLIGENCE LAYER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Converting fragmented physical-world data into machine-readable, queryable spatial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7132320" cy="621792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82880"/>
          <a:lstStyle/>
          <a:p>
            <a:pPr algn="ctr">
              <a:spcAft>
                <a:spcPts val="200"/>
              </a:spcAft>
              <a:defRPr sz="1050" b="1">
                <a:solidFill>
                  <a:srgbClr val="00E5FF"/>
                </a:solidFill>
                <a:latin typeface="Segoe UI"/>
              </a:defRPr>
            </a:pPr>
            <a:r>
              <a:t>TIER 1: INTERACTION LAYER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Student Mobile App • Faculty Portals • Web Dashboard • Voice &amp; Conversational Chat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7132320" cy="621792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82880"/>
          <a:lstStyle/>
          <a:p>
            <a:pPr algn="ctr">
              <a:spcAft>
                <a:spcPts val="200"/>
              </a:spcAft>
              <a:defRPr sz="1050" b="1">
                <a:solidFill>
                  <a:srgbClr val="A78BFA"/>
                </a:solidFill>
                <a:latin typeface="Segoe UI"/>
              </a:defRPr>
            </a:pPr>
            <a:r>
              <a:t>TIER 2: AI AGENT ENGINE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Natural Language Intent Parser • Spatial Semantic Reasoning • Autonomous Dispatch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37560"/>
            <a:ext cx="7132320" cy="68580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82880"/>
          <a:lstStyle/>
          <a:p>
            <a:pPr algn="ctr">
              <a:spcAft>
                <a:spcPts val="200"/>
              </a:spcAft>
              <a:defRPr sz="1050" b="1">
                <a:solidFill>
                  <a:srgbClr val="00E5FF"/>
                </a:solidFill>
                <a:latin typeface="Segoe UI"/>
              </a:defRPr>
            </a:pPr>
            <a:r>
              <a:t>TIER 3: UNIFIED SPATIAL KNOWLEDGE GRAPH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Graph DB linking [Coordinates ↔ Assets ↔ Timetables ↔ Operational Health ↔ People]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33087"/>
            <a:ext cx="7132320" cy="621792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82880"/>
          <a:lstStyle/>
          <a:p>
            <a:pPr algn="ctr"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TIER 4: INGESTION &amp; INTEGRATION BUS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CAD / BIM Maps • ERP / SIS Timetables • IoT Telemetry • Maintenance Ticketing • Computer Vision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64608"/>
            <a:ext cx="7132320" cy="621792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82880"/>
          <a:lstStyle/>
          <a:p>
            <a:pPr algn="ctr">
              <a:spcAft>
                <a:spcPts val="200"/>
              </a:spcAft>
              <a:defRPr sz="1050" b="1">
                <a:solidFill>
                  <a:srgbClr val="94A3B8"/>
                </a:solidFill>
                <a:latin typeface="Segoe UI"/>
              </a:defRPr>
            </a:pPr>
            <a:r>
              <a:t>TIER 5: PHYSICAL ENVIRONMENT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University Campuses • Buildings • Classrooms • Labs • Systems • People in Motion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74519"/>
            <a:ext cx="3413455" cy="361188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 rIns="164592"/>
          <a:lstStyle/>
          <a:p>
            <a:pPr algn="ctr">
              <a:spcAft>
                <a:spcPts val="1200"/>
              </a:spcAft>
              <a:defRPr sz="1200" b="1">
                <a:solidFill>
                  <a:srgbClr val="00E5FF"/>
                </a:solidFill>
                <a:latin typeface="Segoe UI"/>
              </a:defRPr>
            </a:pPr>
            <a:r>
              <a:t>ARCHITECTURAL MOAT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Multi-Modal Data Ingestion</a:t>
            </a:r>
          </a:p>
          <a:p>
            <a:pPr>
              <a:spcAft>
                <a:spcPts val="8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  Ingests 2D blueprints, IFC/BIM models, Wi-Fi beacons, and API tables into a common schema.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Graph-Based Semantic Index</a:t>
            </a:r>
          </a:p>
          <a:p>
            <a:pPr>
              <a:spcAft>
                <a:spcPts val="8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  Unlike SQL tables, spatial graphs understand proximity, topology, and relational dependencies natively.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Sub-Second Multi-Hop Query</a:t>
            </a:r>
          </a:p>
          <a:p>
            <a:pPr>
              <a:spcAft>
                <a:spcPts val="8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  Executes complex queries like 'Find an open lab with working 3D printer within 5 min walk' in &lt;0.8s.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Enterprise Interoperability</a:t>
            </a:r>
          </a:p>
          <a:p>
            <a:pPr>
              <a:spcAft>
                <a:spcPts val="8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  Plugs directly into existing university IT, Banner, Canvas, Cisco DNA, and facility software.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23560"/>
            <a:ext cx="10728655" cy="658368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“ One unified intelligence layer connecting people, places, assets, and operations. 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[STARTUP NAME] | SPATIAL INTELLIGENCE PLATFORM            CONFIDENTIAL INVESTOR PRESENTATION            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0A1C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  <a:latin typeface="Segoe UI"/>
              </a:defRPr>
            </a:pPr>
            <a:r>
              <a:t>06 | COMPETITIVE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Segoe UI"/>
              </a:defRPr>
            </a:pPr>
            <a:r>
              <a:t>NOT ANOTHER CAMPUS MAP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Why traditional maps and conversational chatbots cannot deliver spatial intelligence.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74519"/>
          <a:ext cx="10728655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194560"/>
                <a:gridCol w="2194560"/>
                <a:gridCol w="2864815"/>
              </a:tblGrid>
              <a:tr h="374903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CORE CAPABILITY</a:t>
                      </a:r>
                    </a:p>
                  </a:txBody>
                  <a:tcPr>
                    <a:solidFill>
                      <a:srgbClr val="10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TRADITIONAL MAP</a:t>
                      </a:r>
                    </a:p>
                  </a:txBody>
                  <a:tcPr>
                    <a:solidFill>
                      <a:srgbClr val="10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CAMPUS CHATBOT</a:t>
                      </a:r>
                    </a:p>
                  </a:txBody>
                  <a:tcPr>
                    <a:solidFill>
                      <a:srgbClr val="10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[STARTUP NAME] PLATFORM</a:t>
                      </a:r>
                    </a:p>
                  </a:txBody>
                  <a:tcPr>
                    <a:solidFill>
                      <a:srgbClr val="122646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Indoor &amp; Outdoor Location Finding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YES (Static)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YES (3D Spatial Mesh)</a:t>
                      </a:r>
                    </a:p>
                  </a:txBody>
                  <a:tcPr>
                    <a:solidFill>
                      <a:srgbClr val="0E1E38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Natural Language Interface</a:t>
                      </a:r>
                    </a:p>
                  </a:txBody>
                  <a:tcPr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YES (Text Only)</a:t>
                      </a:r>
                    </a:p>
                  </a:txBody>
                  <a:tcPr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YES (Context &amp; Voice)</a:t>
                      </a:r>
                    </a:p>
                  </a:txBody>
                  <a:tcPr>
                    <a:solidFill>
                      <a:srgbClr val="122444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Deep Room &amp; Asset Understanding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YES (Granular Knowledge Graph)</a:t>
                      </a:r>
                    </a:p>
                  </a:txBody>
                  <a:tcPr>
                    <a:solidFill>
                      <a:srgbClr val="0E1E38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Live IoT &amp; Sensor Integration</a:t>
                      </a:r>
                    </a:p>
                  </a:txBody>
                  <a:tcPr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YES (Real-Time Telemetry)</a:t>
                      </a:r>
                    </a:p>
                  </a:txBody>
                  <a:tcPr>
                    <a:solidFill>
                      <a:srgbClr val="122444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Equipment Operating Status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YES (Live System Tracking)</a:t>
                      </a:r>
                    </a:p>
                  </a:txBody>
                  <a:tcPr>
                    <a:solidFill>
                      <a:srgbClr val="0E1E38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Context-Aware Dynamic Routing</a:t>
                      </a:r>
                    </a:p>
                  </a:txBody>
                  <a:tcPr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Partial (Outdoor GPS)</a:t>
                      </a:r>
                    </a:p>
                  </a:txBody>
                  <a:tcPr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YES (Indoor Turn-by-Turn)</a:t>
                      </a:r>
                    </a:p>
                  </a:txBody>
                  <a:tcPr>
                    <a:solidFill>
                      <a:srgbClr val="122444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Automated Maintenance Ticketing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YES (1-Click Auto Dispatch)</a:t>
                      </a:r>
                    </a:p>
                  </a:txBody>
                  <a:tcPr>
                    <a:solidFill>
                      <a:srgbClr val="0E1E38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Emergency &amp; Accessibility Intelligence</a:t>
                      </a:r>
                    </a:p>
                  </a:txBody>
                  <a:tcPr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YES (Step-Free &amp; Evac Paths)</a:t>
                      </a:r>
                    </a:p>
                  </a:txBody>
                  <a:tcPr>
                    <a:solidFill>
                      <a:srgbClr val="122444"/>
                    </a:solidFill>
                  </a:tcPr>
                </a:tc>
              </a:tr>
              <a:tr h="37491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Multi-Industry Enterprise Scalability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YES (Cross-Sector Architecture)</a:t>
                      </a:r>
                    </a:p>
                  </a:txBody>
                  <a:tcPr>
                    <a:solidFill>
                      <a:srgbClr val="0E1E3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742432"/>
            <a:ext cx="10728655" cy="59436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A78BFA"/>
                </a:solidFill>
                <a:latin typeface="Segoe UI"/>
              </a:defRPr>
            </a:pPr>
            <a:r>
              <a:t>“ Maps show where things are. We understand what those things mean — and what should happen next. 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[STARTUP NAME] | SPATIAL INTELLIGENCE PLATFORM            CONFIDENTIAL INVESTOR PRESENTATION            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0A1C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  <a:latin typeface="Segoe UI"/>
              </a:defRPr>
            </a:pPr>
            <a:r>
              <a:t>07 | TECHNICAL &amp; 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Segoe UI"/>
              </a:defRPr>
            </a:pPr>
            <a:r>
              <a:t>FROM CAMPUS AI TO PHYSICAL INTELLIGENCE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A methodical 4-phase expansion strategy from academic testbeds to global enterprise facilities.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499055" cy="361188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 r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00E5FF"/>
                </a:solidFill>
                <a:latin typeface="Segoe UI"/>
              </a:defRPr>
            </a:pPr>
            <a:r>
              <a:t>PHASE 1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SMART CAMPUS</a:t>
            </a:r>
          </a:p>
          <a:p>
            <a:pPr>
              <a:spcAft>
                <a:spcPts val="1400"/>
              </a:spcAft>
              <a:defRPr sz="850" b="1">
                <a:solidFill>
                  <a:srgbClr val="94A3B8"/>
                </a:solidFill>
                <a:latin typeface="Segoe UI"/>
              </a:defRPr>
            </a:pPr>
            <a:r>
              <a:t>CORE FOUNDATION</a:t>
            </a:r>
          </a:p>
          <a:p>
            <a:pPr>
              <a:spcAft>
                <a:spcPts val="5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Conversational Campus AI Copilot</a:t>
            </a:r>
          </a:p>
          <a:p>
            <a:pPr>
              <a:spcAft>
                <a:spcPts val="5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Indoor turn-by-turn navigation</a:t>
            </a:r>
          </a:p>
          <a:p>
            <a:pPr>
              <a:spcAft>
                <a:spcPts val="5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Room, lab &amp; lecture hall intelligence</a:t>
            </a:r>
          </a:p>
          <a:p>
            <a:pPr>
              <a:spcAft>
                <a:spcPts val="5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Static equipment &amp; asset registry</a:t>
            </a:r>
          </a:p>
          <a:p>
            <a:pPr>
              <a:spcAft>
                <a:spcPts val="5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Timetable &amp; schedule synchronization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920240"/>
            <a:ext cx="2499055" cy="361188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 r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00B4D8"/>
                </a:solidFill>
                <a:latin typeface="Segoe UI"/>
              </a:defRPr>
            </a:pPr>
            <a:r>
              <a:t>PHASE 2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LIVE CAMPUS</a:t>
            </a:r>
          </a:p>
          <a:p>
            <a:pPr>
              <a:spcAft>
                <a:spcPts val="1400"/>
              </a:spcAft>
              <a:defRPr sz="850" b="1">
                <a:solidFill>
                  <a:srgbClr val="94A3B8"/>
                </a:solidFill>
                <a:latin typeface="Segoe UI"/>
              </a:defRPr>
            </a:pPr>
            <a:r>
              <a:t>REAL-TIME SENSING</a:t>
            </a:r>
          </a:p>
          <a:p>
            <a:pPr>
              <a:spcAft>
                <a:spcPts val="5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Real-time IoT occupancy sensors</a:t>
            </a:r>
          </a:p>
          <a:p>
            <a:pPr>
              <a:spcAft>
                <a:spcPts val="5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Live equipment availability &amp; health</a:t>
            </a:r>
          </a:p>
          <a:p>
            <a:pPr>
              <a:spcAft>
                <a:spcPts val="5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Automated 1-click maintenance dispatch</a:t>
            </a:r>
          </a:p>
          <a:p>
            <a:pPr>
              <a:spcAft>
                <a:spcPts val="5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Accessible &amp; step-free routing</a:t>
            </a:r>
          </a:p>
          <a:p>
            <a:pPr>
              <a:spcAft>
                <a:spcPts val="5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Wi-Fi &amp; Bluetooth beacon positioning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2499055" cy="361188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 r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A78BFA"/>
                </a:solidFill>
                <a:latin typeface="Segoe UI"/>
              </a:defRPr>
            </a:pPr>
            <a:r>
              <a:t>PHASE 3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INTELLIGENT OPS</a:t>
            </a:r>
          </a:p>
          <a:p>
            <a:pPr>
              <a:spcAft>
                <a:spcPts val="1400"/>
              </a:spcAft>
              <a:defRPr sz="850" b="1">
                <a:solidFill>
                  <a:srgbClr val="94A3B8"/>
                </a:solidFill>
                <a:latin typeface="Segoe UI"/>
              </a:defRPr>
            </a:pPr>
            <a:r>
              <a:t>AUTONOMOUS FACILITY</a:t>
            </a:r>
          </a:p>
          <a:p>
            <a:pPr>
              <a:spcAft>
                <a:spcPts val="5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Computer vision crowd &amp; space flow</a:t>
            </a:r>
          </a:p>
          <a:p>
            <a:pPr>
              <a:spcAft>
                <a:spcPts val="5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Real-time 3D digital twin sync</a:t>
            </a:r>
          </a:p>
          <a:p>
            <a:pPr>
              <a:spcAft>
                <a:spcPts val="5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Dynamic emergency evacuation AI</a:t>
            </a:r>
          </a:p>
          <a:p>
            <a:pPr>
              <a:spcAft>
                <a:spcPts val="5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Predictive facility maintenance</a:t>
            </a:r>
          </a:p>
          <a:p>
            <a:pPr>
              <a:spcAft>
                <a:spcPts val="5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Autonomous resource allocation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920240"/>
            <a:ext cx="2499055" cy="361188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 r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PHASE 4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MULTI-INDUSTRY</a:t>
            </a:r>
          </a:p>
          <a:p>
            <a:pPr>
              <a:spcAft>
                <a:spcPts val="1400"/>
              </a:spcAft>
              <a:defRPr sz="850" b="1">
                <a:solidFill>
                  <a:srgbClr val="94A3B8"/>
                </a:solidFill>
                <a:latin typeface="Segoe UI"/>
              </a:defRPr>
            </a:pPr>
            <a:r>
              <a:t>GLOBAL ENTERPRISE</a:t>
            </a:r>
          </a:p>
          <a:p>
            <a:pPr>
              <a:spcAft>
                <a:spcPts val="5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Hospitals (Critical asset &amp; patient flow)</a:t>
            </a:r>
          </a:p>
          <a:p>
            <a:pPr>
              <a:spcAft>
                <a:spcPts val="5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Factories &amp; Plants (Tools &amp; safety mesh)</a:t>
            </a:r>
          </a:p>
          <a:p>
            <a:pPr>
              <a:spcAft>
                <a:spcPts val="5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Logistics Warehouses (Inventory sync)</a:t>
            </a:r>
          </a:p>
          <a:p>
            <a:pPr>
              <a:spcAft>
                <a:spcPts val="5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International Airports (Passenger routing)</a:t>
            </a:r>
          </a:p>
          <a:p>
            <a:pPr>
              <a:spcAft>
                <a:spcPts val="5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Corporate Campuses &amp; Smart Towers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728655" cy="621792"/>
          </a:xfrm>
          <a:prstGeom prst="roundRect">
            <a:avLst/>
          </a:prstGeom>
          <a:solidFill>
            <a:srgbClr val="0F192E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100" b="1">
                <a:solidFill>
                  <a:srgbClr val="00E5FF"/>
                </a:solidFill>
                <a:latin typeface="Segoe UI"/>
              </a:defRPr>
            </a:pPr>
            <a:r>
              <a:t>STRATEGIC EXPANSION: University Campuses (Sandbox &amp; Data Flywheel)  →  B2B Multi-Industry Enterprise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[STARTUP NAME] | SPATIAL INTELLIGENCE PLATFORM            CONFIDENTIAL INVESTOR PRESENTATION            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0A1C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  <a:latin typeface="Segoe UI"/>
              </a:defRPr>
            </a:pPr>
            <a:r>
              <a:t>08 |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Segoe UI"/>
              </a:defRPr>
            </a:pPr>
            <a:r>
              <a:t>START WITH CAMPUSES. BUILD FOR EVERY LARGE PHYSICAL ENVIRONMENT.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University campuses serve as the ideal beachhead into a massive, multi-vertical enterprise opportunity.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6766560" cy="1115568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00E5FF"/>
                </a:solidFill>
                <a:latin typeface="Segoe UI"/>
              </a:defRPr>
            </a:pPr>
            <a:r>
              <a:t>BEACHHEAD: UNIVERSITY CAMPUSES  |  Controlled high-density physical sandbox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25,000+ Higher education institutions globally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Intense asset &amp; space fragmentation: labs, classrooms, dorms, athletic facilities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High daily churn of 5,000–50,000 students/staff needing constant spatial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6766560" cy="1115568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A78BFA"/>
                </a:solidFill>
                <a:latin typeface="Segoe UI"/>
              </a:defRPr>
            </a:pPr>
            <a:r>
              <a:t>ADJACENT EXPANSION: HIGH-VALUE FACILITIES  |  Mission-critical spaces with heavy asset tracking needs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Hospitals &amp; Medical Centers: Rapid doctor/patient navigation &amp; mobile apparatus tracking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Corporate &amp; Tech Campuses: Desk hoteling, conference room sync &amp; guest onboarding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Airports &amp; Transit Hubs: High-throughput passenger flow, gate routing &amp; concession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6766560" cy="1115568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LONG-TERM VISION: INDUSTRIAL &amp; SMART BUILDINGS  |  Autonomous operating system for physical infrastructure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Manufacturing Plants: Tool tracking, safety compliance &amp; robotics spatial alignment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Automated Logistics Warehouses: Personnel &amp; AGV hybrid spatial orchestration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Smart Commercial Real Estate: Global building management systems unification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874519"/>
            <a:ext cx="3687775" cy="361188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37160" rIns="137160"/>
          <a:lstStyle/>
          <a:p>
            <a:pPr algn="ctr">
              <a:spcAft>
                <a:spcPts val="1000"/>
              </a:spcAft>
              <a:defRPr sz="1150" b="1">
                <a:solidFill>
                  <a:srgbClr val="00E5FF"/>
                </a:solidFill>
                <a:latin typeface="Segoe UI"/>
              </a:defRPr>
            </a:pPr>
            <a:r>
              <a:t>WHY THE TIMING IS NOW</a:t>
            </a:r>
          </a:p>
          <a:p>
            <a:pPr>
              <a:defRPr sz="900" b="1">
                <a:solidFill>
                  <a:srgbClr val="FFFFFF"/>
                </a:solidFill>
                <a:latin typeface="Segoe UI"/>
              </a:defRPr>
            </a:pPr>
            <a:r>
              <a:t>• LLM &amp; Agent Maturity</a:t>
            </a:r>
          </a:p>
          <a:p>
            <a:pPr>
              <a:spcAft>
                <a:spcPts val="600"/>
              </a:spcAft>
              <a:defRPr sz="800">
                <a:solidFill>
                  <a:srgbClr val="94A3B8"/>
                </a:solidFill>
                <a:latin typeface="Segoe UI"/>
              </a:defRPr>
            </a:pPr>
            <a:r>
              <a:t>  For the first time, language models can reason over complex spatial graphs and trigger autonomous external actions seamlessly.</a:t>
            </a:r>
          </a:p>
          <a:p>
            <a:pPr>
              <a:defRPr sz="900" b="1">
                <a:solidFill>
                  <a:srgbClr val="FFFFFF"/>
                </a:solidFill>
                <a:latin typeface="Segoe UI"/>
              </a:defRPr>
            </a:pPr>
            <a:r>
              <a:t>• Proliferation of Smart IoT</a:t>
            </a:r>
          </a:p>
          <a:p>
            <a:pPr>
              <a:spcAft>
                <a:spcPts val="600"/>
              </a:spcAft>
              <a:defRPr sz="800">
                <a:solidFill>
                  <a:srgbClr val="94A3B8"/>
                </a:solidFill>
                <a:latin typeface="Segoe UI"/>
              </a:defRPr>
            </a:pPr>
            <a:r>
              <a:t>  Billions of sensors are deployed inside modern facilities, yet 90%+ of their data remains siloed in unread engineering portals.</a:t>
            </a:r>
          </a:p>
          <a:p>
            <a:pPr>
              <a:defRPr sz="900" b="1">
                <a:solidFill>
                  <a:srgbClr val="FFFFFF"/>
                </a:solidFill>
                <a:latin typeface="Segoe UI"/>
              </a:defRPr>
            </a:pPr>
            <a:r>
              <a:t>• Institutional ROI Pressure</a:t>
            </a:r>
          </a:p>
          <a:p>
            <a:pPr>
              <a:spcAft>
                <a:spcPts val="600"/>
              </a:spcAft>
              <a:defRPr sz="800">
                <a:solidFill>
                  <a:srgbClr val="94A3B8"/>
                </a:solidFill>
                <a:latin typeface="Segoe UI"/>
              </a:defRPr>
            </a:pPr>
            <a:r>
              <a:t>  Facilities can no longer afford wasted energy, underutilized lecture halls, and lost equipment during economic crunches.</a:t>
            </a:r>
          </a:p>
          <a:p>
            <a:pPr>
              <a:defRPr sz="900" b="1">
                <a:solidFill>
                  <a:srgbClr val="FFFFFF"/>
                </a:solidFill>
                <a:latin typeface="Segoe UI"/>
              </a:defRPr>
            </a:pPr>
            <a:r>
              <a:t>• No Incumbent Monopolies</a:t>
            </a:r>
          </a:p>
          <a:p>
            <a:pPr>
              <a:spcAft>
                <a:spcPts val="600"/>
              </a:spcAft>
              <a:defRPr sz="800">
                <a:solidFill>
                  <a:srgbClr val="94A3B8"/>
                </a:solidFill>
                <a:latin typeface="Segoe UI"/>
              </a:defRPr>
            </a:pPr>
            <a:r>
              <a:t>  Google Maps and Apple Maps dominate outdoors, but the indoor and facility spatial intelligence space remains wide open.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566928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00E5FF"/>
                </a:solidFill>
                <a:latin typeface="Segoe UI"/>
              </a:defRPr>
            </a:pPr>
            <a:r>
              <a:t>“ Higher education is our rapid launchpad; enterprise physical intelligence is our billion-dollar scale. 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[STARTUP NAME] | SPATIAL INTELLIGENCE PLATFORM            CONFIDENTIAL INVESTOR PRESENTATION            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0A1C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  <a:latin typeface="Segoe UI"/>
              </a:defRPr>
            </a:pPr>
            <a:r>
              <a:t>09 | BUSINESS MODEL &amp; 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Segoe UI"/>
              </a:defRPr>
            </a:pPr>
            <a:r>
              <a:t>A B2B PLATFORM — NOT JUST AN APP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High-retention institutional SaaS recurring revenue paired with high-margin enterprise expansion.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13455" cy="169164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28016" rIns="128016"/>
          <a:lstStyle/>
          <a:p>
            <a:pPr algn="ctr">
              <a:spcAft>
                <a:spcPts val="200"/>
              </a:spcAft>
              <a:defRPr sz="1000" b="1">
                <a:solidFill>
                  <a:srgbClr val="00E5FF"/>
                </a:solidFill>
                <a:latin typeface="Segoe UI"/>
              </a:defRPr>
            </a:pPr>
            <a:r>
              <a:t>CAMPUS INSTITUTIONAL LICENSE</a:t>
            </a:r>
          </a:p>
          <a:p>
            <a:pPr>
              <a:spcAft>
                <a:spcPts val="800"/>
              </a:spcAft>
              <a:defRPr sz="850" b="1">
                <a:solidFill>
                  <a:srgbClr val="94A3B8"/>
                </a:solidFill>
                <a:latin typeface="Segoe UI"/>
              </a:defRPr>
            </a:pPr>
            <a:r>
              <a:t>Annual SaaS Subscription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Tiered by student &amp; faculty enrollment. Covers full spatial graph hosting, indoor navigation, and basic student copilot.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8205" y="1920240"/>
            <a:ext cx="3413455" cy="169164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28016" rIns="128016"/>
          <a:lstStyle/>
          <a:p>
            <a:pPr algn="ctr">
              <a:spcAft>
                <a:spcPts val="200"/>
              </a:spcAft>
              <a:defRPr sz="1000" b="1">
                <a:solidFill>
                  <a:srgbClr val="A78BFA"/>
                </a:solidFill>
                <a:latin typeface="Segoe UI"/>
              </a:defRPr>
            </a:pPr>
            <a:r>
              <a:t>ENTERPRISE FACILITY LICENSE</a:t>
            </a:r>
          </a:p>
          <a:p>
            <a:pPr>
              <a:spcAft>
                <a:spcPts val="800"/>
              </a:spcAft>
              <a:defRPr sz="850" b="1">
                <a:solidFill>
                  <a:srgbClr val="94A3B8"/>
                </a:solidFill>
                <a:latin typeface="Segoe UI"/>
              </a:defRPr>
            </a:pPr>
            <a:r>
              <a:t>Per-Facility / Sq. Foot Model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Enterprise pricing for corporate campuses, medical facilities, and commercial buildings based on total square footage.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4891" y="1920240"/>
            <a:ext cx="3413455" cy="169164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28016" rIns="128016"/>
          <a:lstStyle/>
          <a:p>
            <a:pPr algn="ctr">
              <a:spcAft>
                <a:spcPts val="2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AI USAGE &amp; AUTONOMOUS AGENTS</a:t>
            </a:r>
          </a:p>
          <a:p>
            <a:pPr>
              <a:spcAft>
                <a:spcPts val="800"/>
              </a:spcAft>
              <a:defRPr sz="850" b="1">
                <a:solidFill>
                  <a:srgbClr val="94A3B8"/>
                </a:solidFill>
                <a:latin typeface="Segoe UI"/>
              </a:defRPr>
            </a:pPr>
            <a:r>
              <a:t>Consumption / Tiered Tier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Premium autonomous operational agents: automated ticket dispatch, predictive space re-allocation, custom workflow integrations.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3413455" cy="169164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28016" rIns="128016"/>
          <a:lstStyle/>
          <a:p>
            <a:pPr algn="ctr">
              <a:spcAft>
                <a:spcPts val="200"/>
              </a:spcAft>
              <a:defRPr sz="1000" b="1">
                <a:solidFill>
                  <a:srgbClr val="00B4D8"/>
                </a:solidFill>
                <a:latin typeface="Segoe UI"/>
              </a:defRPr>
            </a:pPr>
            <a:r>
              <a:t>ENTERPRISE SYSTEM INTEGRATIONS</a:t>
            </a:r>
          </a:p>
          <a:p>
            <a:pPr>
              <a:spcAft>
                <a:spcPts val="800"/>
              </a:spcAft>
              <a:defRPr sz="850" b="1">
                <a:solidFill>
                  <a:srgbClr val="94A3B8"/>
                </a:solidFill>
                <a:latin typeface="Segoe UI"/>
              </a:defRPr>
            </a:pPr>
            <a:r>
              <a:t>Connector Add-ons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Annual connector licenses for legacy enterprise systems: Banner, SAP, Oracle, Canvas, Cisco DNA, Siemens BMS.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8205" y="3794760"/>
            <a:ext cx="3413455" cy="169164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28016" rIns="128016"/>
          <a:lstStyle/>
          <a:p>
            <a:pPr algn="ctr">
              <a:spcAft>
                <a:spcPts val="2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PREDICTIVE OPERATIONAL ANALYTICS</a:t>
            </a:r>
          </a:p>
          <a:p>
            <a:pPr>
              <a:spcAft>
                <a:spcPts val="800"/>
              </a:spcAft>
              <a:defRPr sz="850" b="1">
                <a:solidFill>
                  <a:srgbClr val="94A3B8"/>
                </a:solidFill>
                <a:latin typeface="Segoe UI"/>
              </a:defRPr>
            </a:pPr>
            <a:r>
              <a:t>Executive Dashboard Tier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Deep operational insights for facility managers: real-time room utilization heatmaps, equipment MTBF, energy optimization.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4891" y="3794760"/>
            <a:ext cx="3413455" cy="169164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28016" rIns="128016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RAPID ONBOARDING SERVICES</a:t>
            </a:r>
          </a:p>
          <a:p>
            <a:pPr>
              <a:spcAft>
                <a:spcPts val="800"/>
              </a:spcAft>
              <a:defRPr sz="850" b="1">
                <a:solidFill>
                  <a:srgbClr val="94A3B8"/>
                </a:solidFill>
                <a:latin typeface="Segoe UI"/>
              </a:defRPr>
            </a:pPr>
            <a:r>
              <a:t>Deployment &amp; Mapping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High-margin professional services for rapid initial CAD/BIM ingestion, Wi-Fi beacon calibration, and custom hardware mapping.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15000"/>
            <a:ext cx="10728655" cy="594360"/>
          </a:xfrm>
          <a:prstGeom prst="roundRect">
            <a:avLst/>
          </a:prstGeom>
          <a:solidFill>
            <a:srgbClr val="0F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00E5FF"/>
                </a:solidFill>
                <a:latin typeface="Segoe UI"/>
              </a:defRPr>
            </a:pPr>
            <a:r>
              <a:t>FINANCIAL SUMMARY: Recurring Institutional SaaS  +  Enterprise Expansions  =  High LTV &amp; Defensible Institutional Moat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[STARTUP NAME] | SPATIAL INTELLIGENCE PLATFORM            CONFIDENTIAL INVESTOR PRESENTATION            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0A1C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  <a:latin typeface="Segoe UI"/>
              </a:defRPr>
            </a:pPr>
            <a:r>
              <a:t>10 | GO-TO-MARKET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Segoe UI"/>
              </a:defRPr>
            </a:pPr>
            <a:r>
              <a:t>ONE CAMPUS → PROVEN ROI → SCALE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A de-risked land-and-expand execution playbook driven by quantifiable operational proof points.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13455" cy="361188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28016" rIns="128016"/>
          <a:lstStyle/>
          <a:p>
            <a:pPr algn="ctr">
              <a:spcAft>
                <a:spcPts val="200"/>
              </a:spcAft>
              <a:defRPr sz="1100" b="1">
                <a:solidFill>
                  <a:srgbClr val="00E5FF"/>
                </a:solidFill>
                <a:latin typeface="Segoe UI"/>
              </a:defRPr>
            </a:pPr>
            <a:r>
              <a:t>STAGE 1: PILOT DEPLOYMENT</a:t>
            </a:r>
          </a:p>
          <a:p>
            <a:pPr>
              <a:spcAft>
                <a:spcPts val="1600"/>
              </a:spcAft>
              <a:defRPr sz="850" b="1">
                <a:solidFill>
                  <a:srgbClr val="94A3B8"/>
                </a:solidFill>
                <a:latin typeface="Segoe UI"/>
              </a:defRPr>
            </a:pPr>
            <a:r>
              <a:t>Months 1 – 6  |  Anchor Validation</a:t>
            </a:r>
          </a:p>
          <a:p>
            <a:pPr>
              <a:spcAft>
                <a:spcPts val="8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Deploy fully mapped pilot in 1 flagship college/university campus</a:t>
            </a:r>
          </a:p>
          <a:p>
            <a:pPr>
              <a:spcAft>
                <a:spcPts val="8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Digitize campus spatial knowledge graph in under 14 days from CAD/BIM</a:t>
            </a:r>
          </a:p>
          <a:p>
            <a:pPr>
              <a:spcAft>
                <a:spcPts val="8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Onboard 5,000+ active students, faculty, and maintenance personnel</a:t>
            </a:r>
          </a:p>
          <a:p>
            <a:pPr>
              <a:spcAft>
                <a:spcPts val="8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Direct integration with campus timetable ERP and facilities helpdesk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8205" y="1920240"/>
            <a:ext cx="3413455" cy="361188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28016" rIns="128016"/>
          <a:lstStyle/>
          <a:p>
            <a:pPr algn="ctr">
              <a:spcAft>
                <a:spcPts val="2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STAGE 2: PROVE QUANTIFIED ROI</a:t>
            </a:r>
          </a:p>
          <a:p>
            <a:pPr>
              <a:spcAft>
                <a:spcPts val="1600"/>
              </a:spcAft>
              <a:defRPr sz="850" b="1">
                <a:solidFill>
                  <a:srgbClr val="94A3B8"/>
                </a:solidFill>
                <a:latin typeface="Segoe UI"/>
              </a:defRPr>
            </a:pPr>
            <a:r>
              <a:t>Months 7 – 12  |  Measurable Proof Points</a:t>
            </a:r>
          </a:p>
          <a:p>
            <a:pPr>
              <a:spcAft>
                <a:spcPts val="8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40%+ reduction in front-desk navigation &amp; facility inquiry requests</a:t>
            </a:r>
          </a:p>
          <a:p>
            <a:pPr>
              <a:spcAft>
                <a:spcPts val="8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3x faster maintenance ticket assignment, response, and resolution</a:t>
            </a:r>
          </a:p>
          <a:p>
            <a:pPr>
              <a:spcAft>
                <a:spcPts val="8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20%+ improvement in lab workstation &amp; study space utilization</a:t>
            </a:r>
          </a:p>
          <a:p>
            <a:pPr>
              <a:spcAft>
                <a:spcPts val="8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High daily active engagement (&gt;65% student monthly repeat usage)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4891" y="1920240"/>
            <a:ext cx="3413455" cy="361188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28016" rIns="128016"/>
          <a:lstStyle/>
          <a:p>
            <a:pPr algn="ctr">
              <a:spcAft>
                <a:spcPts val="200"/>
              </a:spcAft>
              <a:defRPr sz="1100" b="1">
                <a:solidFill>
                  <a:srgbClr val="A78BFA"/>
                </a:solidFill>
                <a:latin typeface="Segoe UI"/>
              </a:defRPr>
            </a:pPr>
            <a:r>
              <a:t>STAGE 3: MULTI-CAMPUS &amp; INDUSTRY EXPANSION</a:t>
            </a:r>
          </a:p>
          <a:p>
            <a:pPr>
              <a:spcAft>
                <a:spcPts val="1600"/>
              </a:spcAft>
              <a:defRPr sz="850" b="1">
                <a:solidFill>
                  <a:srgbClr val="94A3B8"/>
                </a:solidFill>
                <a:latin typeface="Segoe UI"/>
              </a:defRPr>
            </a:pPr>
            <a:r>
              <a:t>Year 2+  |  Network Effects &amp; Scale</a:t>
            </a:r>
          </a:p>
          <a:p>
            <a:pPr>
              <a:spcAft>
                <a:spcPts val="8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Scale from 1 to 10 → 50 regional college and university campuses</a:t>
            </a:r>
          </a:p>
          <a:p>
            <a:pPr>
              <a:spcAft>
                <a:spcPts val="8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Expand into university-affiliated teaching hospitals &amp; medical centers</a:t>
            </a:r>
          </a:p>
          <a:p>
            <a:pPr>
              <a:spcAft>
                <a:spcPts val="8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Enter corporate campuses, innovation tech parks, and commercial spaces</a:t>
            </a:r>
          </a:p>
          <a:p>
            <a:pPr>
              <a:spcAft>
                <a:spcPts val="8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• Establish developer APIs for 3rd-party spatial application extensions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728655" cy="621792"/>
          </a:xfrm>
          <a:prstGeom prst="roundRect">
            <a:avLst/>
          </a:prstGeom>
          <a:solidFill>
            <a:srgbClr val="0F19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150" b="1">
                <a:solidFill>
                  <a:srgbClr val="00E5FF"/>
                </a:solidFill>
                <a:latin typeface="Segoe UI"/>
              </a:defRPr>
            </a:pPr>
            <a:r>
              <a:t>“ Campus is our controlled environment for validating technology and data flywheels before expanding into larger enterprise markets. 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[STARTUP NAME] | SPATIAL INTELLIGENCE PLATFORM            CONFIDENTIAL INVESTOR PRESENTATION            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0A1C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  <a:latin typeface="Segoe UI"/>
              </a:defRPr>
            </a:pPr>
            <a:r>
              <a:t>11 | VISION &amp; INVESTOR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Segoe UI"/>
              </a:defRPr>
            </a:pPr>
            <a:r>
              <a:t>WE ARE BUILDING THE AI LAYER FOR THE PHYSICAL WORLD.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Just as AI understands digital knowledge, we make AI understand the physical environments where humanity lives and works.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486400" cy="3657600"/>
          </a:xfrm>
          <a:prstGeom prst="roundRect">
            <a:avLst/>
          </a:prstGeom>
          <a:solidFill>
            <a:srgbClr val="0B111E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64592" rIns="164592"/>
          <a:lstStyle/>
          <a:p>
            <a:pPr algn="ctr">
              <a:spcAft>
                <a:spcPts val="1200"/>
              </a:spcAft>
              <a:defRPr sz="1100" b="1">
                <a:solidFill>
                  <a:srgbClr val="00E5FF"/>
                </a:solidFill>
                <a:latin typeface="Segoe UI"/>
              </a:defRPr>
            </a:pPr>
            <a:r>
              <a:t>THE MULTI-INDUSTRY EXPANSION CONTINUUM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▶  CAMPUS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    University environments: Dense assets, students, faculty, classrooms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▶  HOSPITAL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    Healthcare campuses: Life-saving navigation, equipment telemetry, patient flow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▶  FACTORY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    Industrial plants: Tool allocation, worker safety, automated guided vehicles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▶  WAREHOUSE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    Logistics hubs: Dynamic spatial mapping &amp; autonomous workflow routing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▶  AIRPORT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    Transit hubs: Millions of passengers, high-throughput security &amp; gate flow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▶  SMART BUILDINGS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    Commercial towers: Universal AI operating system for human spaces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874519"/>
            <a:ext cx="4967935" cy="365760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64592" rIns="164592"/>
          <a:lstStyle/>
          <a:p>
            <a:pPr algn="ctr">
              <a:spcAft>
                <a:spcPts val="1200"/>
              </a:spcAft>
              <a:defRPr sz="1100" b="1">
                <a:solidFill>
                  <a:srgbClr val="A78BFA"/>
                </a:solidFill>
                <a:latin typeface="Segoe UI"/>
              </a:defRPr>
            </a:pPr>
            <a:r>
              <a:t>WHAT WE ARE SEEKING TODAY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PILOT CAMPUS PARTNERS</a:t>
            </a:r>
          </a:p>
          <a:p>
            <a:pPr>
              <a:spcAft>
                <a:spcPts val="4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  Forward-thinking educational institutions &amp; facility directors ready to deploy and validate the spatial intelligence layer.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INDUSTRY MENTORSHIP</a:t>
            </a:r>
          </a:p>
          <a:p>
            <a:pPr>
              <a:spcAft>
                <a:spcPts val="4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  Guidance from seasoned enterprise B2B SaaS, PropTech, and facility management leaders to accelerate market access.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TECHNICAL ADVISORY</a:t>
            </a:r>
          </a:p>
          <a:p>
            <a:pPr>
              <a:spcAft>
                <a:spcPts val="4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  Advisors in large-scale spatial computing, distributed graph databases, and indoor robotics navigation.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INCUBATION &amp; INSTITUTIONAL SUPPORT</a:t>
            </a:r>
          </a:p>
          <a:p>
            <a:pPr>
              <a:spcAft>
                <a:spcPts val="4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  Access to early-stage deep-tech accelerator programs, sandboxes, and industrial ecosystem networks.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STRATEGIC EARLY-STAGE CAPITAL</a:t>
            </a:r>
          </a:p>
          <a:p>
            <a:pPr>
              <a:spcAft>
                <a:spcPts val="4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  Seed funding to scale the core engineering team, refine the spatial graph engine, and complete initial flagship pilots.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87568"/>
            <a:ext cx="10728655" cy="621792"/>
          </a:xfrm>
          <a:prstGeom prst="roundRect">
            <a:avLst/>
          </a:prstGeom>
          <a:solidFill>
            <a:srgbClr val="101A3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400" b="1">
                <a:solidFill>
                  <a:srgbClr val="00E5FF"/>
                </a:solidFill>
                <a:latin typeface="Segoe UI"/>
              </a:defRPr>
            </a:pPr>
            <a:r>
              <a:t>[STARTUP NAME]  —  Spatial Intelligence for the Physical World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[STARTUP NAME] | SPATIAL INTELLIGENCE PLATFORM            CONFIDENTIAL INVESTOR PRESENTATION            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0A1C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  <a:latin typeface="Segoe UI"/>
              </a:defRPr>
            </a:pPr>
            <a:r>
              <a:t>12 | LIVE PRODUCT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Segoe UI"/>
              </a:defRPr>
            </a:pPr>
            <a:r>
              <a:t>SEE IT IN ACTION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Watch [STARTUP NAME] resolve multi-hop spatial questions and execute autonomous actions live.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852160" cy="3703320"/>
          </a:xfrm>
          <a:prstGeom prst="roundRect">
            <a:avLst/>
          </a:prstGeom>
          <a:solidFill>
            <a:srgbClr val="090E19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 lIns="182880" r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00E5FF"/>
                </a:solidFill>
                <a:latin typeface="Segoe UI"/>
              </a:defRPr>
            </a:pPr>
            <a:r>
              <a:t>LIVE INTERACTIVE PRODUCT PROTOTYPE</a:t>
            </a:r>
          </a:p>
          <a:p>
            <a:pPr>
              <a:spcAft>
                <a:spcPts val="16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&gt;&gt; Connecting to Campus Spatial Mesh...</a:t>
            </a:r>
            <a:br/>
            <a:r>
              <a:t>&gt;&gt; Building Floor Graph Loaded: 42 Floors, 320 Rooms</a:t>
            </a:r>
            <a:br/>
            <a:r>
              <a:t>&gt;&gt; Live Asset Telemetry Active: 1,420 Devices Connected</a:t>
            </a:r>
            <a:br/>
            <a:r>
              <a:t>&gt;&gt; LLM Orchestrator Ready for Natural Language Queries...</a:t>
            </a:r>
          </a:p>
          <a:p>
            <a:pPr algn="ctr">
              <a:defRPr sz="1000" b="1">
                <a:solidFill>
                  <a:srgbClr val="A78BFA"/>
                </a:solidFill>
                <a:latin typeface="Segoe UI"/>
              </a:defRPr>
            </a:pPr>
            <a:r>
              <a:t>[ Ready on Stage for Real-Time Audience &amp; Judge Interaction 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5852160" cy="384048"/>
          </a:xfrm>
          <a:prstGeom prst="rect">
            <a:avLst/>
          </a:prstGeom>
          <a:solidFill>
            <a:srgbClr val="10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  ●  LIVE SYSTEM ENVIRONMENT  |  PORT: 443  |  STATUS: ONLINE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874519"/>
            <a:ext cx="4602175" cy="370332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1C2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46304" rIns="146304"/>
          <a:lstStyle/>
          <a:p>
            <a:pPr algn="ctr">
              <a:spcAft>
                <a:spcPts val="1000"/>
              </a:spcAft>
              <a:defRPr sz="1100" b="1">
                <a:solidFill>
                  <a:srgbClr val="A78BFA"/>
                </a:solidFill>
                <a:latin typeface="Segoe UI"/>
              </a:defRPr>
            </a:pPr>
            <a:r>
              <a:t>DEMONSTRATION WALKTHROUGH SCRIPT</a:t>
            </a:r>
          </a:p>
          <a:p>
            <a:pPr>
              <a:defRPr sz="900" b="1">
                <a:solidFill>
                  <a:srgbClr val="00E5FF"/>
                </a:solidFill>
                <a:latin typeface="Segoe UI"/>
              </a:defRPr>
            </a:pPr>
            <a:r>
              <a:t>• TEST 1: SPATIAL QUERY  "Where is the AI Lab?"</a:t>
            </a:r>
          </a:p>
          <a:p>
            <a:pPr>
              <a:spcAft>
                <a:spcPts val="4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  → Outcome: AI parses coordinates, returns Block B, 2nd Floor, Room 204.</a:t>
            </a:r>
          </a:p>
          <a:p>
            <a:pPr>
              <a:defRPr sz="900" b="1">
                <a:solidFill>
                  <a:srgbClr val="00E5FF"/>
                </a:solidFill>
                <a:latin typeface="Segoe UI"/>
              </a:defRPr>
            </a:pPr>
            <a:r>
              <a:t>• TEST 2: CONTEXT ROUTING  "How do I get there from here?"</a:t>
            </a:r>
          </a:p>
          <a:p>
            <a:pPr>
              <a:spcAft>
                <a:spcPts val="4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  → Outcome: Generates turn-by-turn indoor route with estimated walk time (4 mins).</a:t>
            </a:r>
          </a:p>
          <a:p>
            <a:pPr>
              <a:defRPr sz="900" b="1">
                <a:solidFill>
                  <a:srgbClr val="00E5FF"/>
                </a:solidFill>
                <a:latin typeface="Segoe UI"/>
              </a:defRPr>
            </a:pPr>
            <a:r>
              <a:t>• TEST 3: ASSET &amp; TELEMETRY  "What equipment is available?"</a:t>
            </a:r>
          </a:p>
          <a:p>
            <a:pPr>
              <a:spcAft>
                <a:spcPts val="4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  → Outcome: Live graph checks system registry: 35 active PCs, 5 under maintenance.</a:t>
            </a:r>
          </a:p>
          <a:p>
            <a:pPr>
              <a:defRPr sz="900" b="1">
                <a:solidFill>
                  <a:srgbClr val="00E5FF"/>
                </a:solidFill>
                <a:latin typeface="Segoe UI"/>
              </a:defRPr>
            </a:pPr>
            <a:r>
              <a:t>• TEST 4: AUTONOMOUS ACTION  "Report the broken projector."</a:t>
            </a:r>
          </a:p>
          <a:p>
            <a:pPr>
              <a:spcAft>
                <a:spcPts val="400"/>
              </a:spcAft>
              <a:defRPr sz="850">
                <a:solidFill>
                  <a:srgbClr val="E2E8F0"/>
                </a:solidFill>
                <a:latin typeface="Segoe UI"/>
              </a:defRPr>
            </a:pPr>
            <a:r>
              <a:t>  → Outcome: Instantly creates maintenance ticket #184 and dispatches lab admin.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728655" cy="59436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00E5FF"/>
                </a:solidFill>
                <a:latin typeface="Segoe UI"/>
              </a:defRPr>
            </a:pPr>
            <a:r>
              <a:t>FROM QUESTION → TO AUTONOMOUS PHYSICAL ACTION IN SECONDS.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[STARTUP NAME] | SPATIAL INTELLIGENCE PLATFORM            CONFIDENTIAL INVESTOR PRESENTATION            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
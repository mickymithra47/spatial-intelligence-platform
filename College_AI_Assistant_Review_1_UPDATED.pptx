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97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08947"/>
            <a:ext cx="68444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rPr sz="1550" dirty="0"/>
              <a:t>23MEY06 / 23CSY06 - ENTREPRENEURSHIP &amp; BUSINESS INCUBATION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6289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800" b="1">
                <a:solidFill>
                  <a:srgbClr val="FFFFFF"/>
                </a:solidFill>
                <a:latin typeface="Georgia"/>
              </a:defRPr>
            </a:pPr>
            <a:r>
              <a:rPr b="1" sz="3600">
                <a:solidFill>
                  <a:srgbClr val="FFFFFF"/>
                </a:solidFill>
              </a:rPr>
              <a:t>SPATIAL INTELLIGENCE PLATFORM
</a:t>
            </a:r>
            <a:r>
              <a:rPr b="1" sz="1700">
                <a:solidFill>
                  <a:srgbClr val="E67E00"/>
                </a:solidFill>
              </a:rPr>
              <a:t>AI That Understands, Navigates &amp; Operates Physical Spaces
</a:t>
            </a:r>
            <a:r>
              <a:rPr b="0" sz="1300">
                <a:solidFill>
                  <a:srgbClr val="94A3B8"/>
                </a:solidFill>
              </a:rPr>
              <a:t>Starting with Smart Campuses  --&gt;  Expanding to Enterprise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2513" y="2971800"/>
            <a:ext cx="676262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rPr dirty="0"/>
              <a:t>Continuous Assessment Milestone - </a:t>
            </a:r>
            <a:r>
              <a:rPr dirty="0">
                <a:solidFill>
                  <a:srgbClr val="00B050"/>
                </a:solidFill>
              </a:rPr>
              <a:t>Review I: Idea Validation &amp; Business Modeling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24231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rPr sz="1300" b="1">
                <a:solidFill>
                  <a:srgbClr val="E67E00"/>
                </a:solidFill>
              </a:rPr>
              <a:t>TEAM MEMBERS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rPr sz="1250">
                <a:solidFill>
                  <a:srgbClr val="FFFFFF"/>
                </a:solidFill>
              </a:rPr>
              <a:t>Karvin.R (2403730410421067)
M.R.Mithra (2403730410421091)
M.Kavin Kumar (2403730410421072)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4114800"/>
            <a:ext cx="24231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rPr sz="1300" b="1">
                <a:solidFill>
                  <a:srgbClr val="E67E00"/>
                </a:solidFill>
              </a:rPr>
              <a:t>DEPARTMENT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rPr sz="1250">
                <a:solidFill>
                  <a:srgbClr val="FFFFFF"/>
                </a:solidFill>
              </a:rPr>
              <a:t>B.E. Computer Science and Engineering (CSE)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4114800"/>
            <a:ext cx="24231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rPr sz="1300" b="1">
                <a:solidFill>
                  <a:srgbClr val="E67E00"/>
                </a:solidFill>
              </a:rPr>
              <a:t>MENTOR / GUIDE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rPr sz="1500">
                <a:solidFill>
                  <a:srgbClr val="FFFFFF"/>
                </a:solidFill>
              </a:rPr>
              <a:t>MS.E.JANANI AP/CSE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42248" y="4114800"/>
            <a:ext cx="242316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D97706"/>
                </a:solidFill>
                <a:latin typeface="Arial"/>
              </a:defRPr>
            </a:pPr>
            <a:r>
              <a:rPr sz="1300" b="1">
                <a:solidFill>
                  <a:srgbClr val="E67E00"/>
                </a:solidFill>
              </a:rPr>
              <a:t>COE ALIGNMENT</a:t>
            </a:r>
          </a:p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rPr sz="1250">
                <a:solidFill>
                  <a:srgbClr val="FFFFFF"/>
                </a:solidFill>
              </a:rPr>
              <a:t>Associated Centre of Excellence:
Product Development Lab, ESEC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The Real-World Problem &amp; Our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PROBLEM IDENTIFICATION &amp; INNOVATION (10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1206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DC2626"/>
                </a:solidFill>
                <a:latin typeface="Georgia"/>
              </a:defRPr>
            </a:pPr>
            <a:r>
              <a:rPr b="1" sz="1600">
                <a:solidFill>
                  <a:srgbClr val="DC2D2D"/>
                </a:solidFill>
              </a:rPr>
              <a:t>1. THE UNRESOLVED PROBLEM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Information Fragmentation: </a:t>
            </a:r>
            <a:r>
              <a:rPr b="0" sz="1150">
                <a:solidFill>
                  <a:srgbClr val="1F2937"/>
                </a:solidFill>
              </a:rPr>
              <a:t>Campus data is scattered across static maps, notice boards, PDFs, timetables, disparate ERPs, and manual enquiries.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Navigation &amp; Finding Friction: </a:t>
            </a:r>
            <a:r>
              <a:rPr b="0" sz="1150">
                <a:solidFill>
                  <a:srgbClr val="1F2937"/>
                </a:solidFill>
              </a:rPr>
              <a:t>Students, staff, and visitors lose significant time locating classrooms, labs, blocks, and accessibility amenities.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Zero Live Operational Visibility: </a:t>
            </a:r>
            <a:r>
              <a:rPr b="0" sz="1150">
                <a:solidFill>
                  <a:srgbClr val="1F2937"/>
                </a:solidFill>
              </a:rPr>
              <a:t>No unified system provides real-time room availability, equipment operational status, or schedule changes.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Operational Bottlenecks: </a:t>
            </a:r>
            <a:r>
              <a:rPr b="0" sz="1150">
                <a:solidFill>
                  <a:srgbClr val="1F2937"/>
                </a:solidFill>
              </a:rPr>
              <a:t>Maintenance reporting is slow and manual; absence of 24/7 intelligent spatial guidance across large campus facilities.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Core Limitation: </a:t>
            </a:r>
            <a:r>
              <a:rPr b="0" sz="1150">
                <a:solidFill>
                  <a:srgbClr val="1F2937"/>
                </a:solidFill>
              </a:rPr>
              <a:t>Physical campuses completely lack a digital intelligence layer that connects physical spaces with operational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46304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16A34A"/>
                </a:solidFill>
                <a:latin typeface="Georgia"/>
              </a:defRPr>
            </a:pPr>
            <a:r>
              <a:rPr b="1" sz="1600">
                <a:solidFill>
                  <a:srgbClr val="DC2D2D"/>
                </a:solidFill>
              </a:rPr>
              <a:t>2. OUR PROPOSED SOLUTION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Spatial Intelligence Platform: </a:t>
            </a:r>
            <a:r>
              <a:rPr b="0" sz="1150">
                <a:solidFill>
                  <a:srgbClr val="1F2937"/>
                </a:solidFill>
              </a:rPr>
              <a:t>An AI intelligence layer deployed over the physical campus that truly understands spaces and assets.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Natural Conversational Querying: </a:t>
            </a:r>
            <a:r>
              <a:rPr b="0" sz="1150">
                <a:solidFill>
                  <a:srgbClr val="1F2937"/>
                </a:solidFill>
              </a:rPr>
              <a:t>Ask naturally like ChatGPT: 'Where is Lab 3?', 'Is Room 204 free?', 'Which lab equipment is under maintenance?'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Unified Spatial Data Fabric: </a:t>
            </a:r>
            <a:r>
              <a:rPr b="0" sz="1150">
                <a:solidFill>
                  <a:srgbClr val="1F2937"/>
                </a:solidFill>
              </a:rPr>
              <a:t>Connects Location + Rooms + Equipment + People + Timetable + Navigation + Maintenance + Live State.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Action-Oriented AI Workflows: </a:t>
            </a:r>
            <a:r>
              <a:rPr b="0" sz="1150">
                <a:solidFill>
                  <a:srgbClr val="1F2937"/>
                </a:solidFill>
              </a:rPr>
              <a:t>Beyond text answers, executes turn-by-turn indoor routing, facility reservations, maintenance tickets, and operational alerts.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Scalable Market Vision: </a:t>
            </a:r>
            <a:r>
              <a:rPr b="0" sz="1150">
                <a:solidFill>
                  <a:srgbClr val="1F2937"/>
                </a:solidFill>
              </a:rPr>
              <a:t>Starting with university campuses as an entry market, scaling across hospitals, factories, warehouses, and smart buildings.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Defining Our Innovation &amp; Technical Novelty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PROBLEM IDENTIFICATION &amp; INNOVATION (10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322015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64748B"/>
                </a:solidFill>
                <a:latin typeface="Georgia"/>
              </a:defRPr>
            </a:pPr>
            <a:r>
              <a:rPr b="1" sz="1500">
                <a:solidFill>
                  <a:srgbClr val="DC2D2D"/>
                </a:solidFill>
              </a:rPr>
              <a:t>FRAGMENTED TRADITIONAL TOOLS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Standalone Maps: </a:t>
            </a:r>
            <a:r>
              <a:rPr b="0" sz="1050">
                <a:solidFill>
                  <a:srgbClr val="1F2937"/>
                </a:solidFill>
              </a:rPr>
              <a:t>Outdoor geographic roads only; blind to indoor layouts, rooms, and assets.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Campus ERP Systems: </a:t>
            </a:r>
            <a:r>
              <a:rPr b="0" sz="1050">
                <a:solidFill>
                  <a:srgbClr val="1F2937"/>
                </a:solidFill>
              </a:rPr>
              <a:t>Tabular database records; lacks spatial mapping and indoor navigation.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Basic Text Chatbots: </a:t>
            </a:r>
            <a:r>
              <a:rPr b="0" sz="1050">
                <a:solidFill>
                  <a:srgbClr val="1F2937"/>
                </a:solidFill>
              </a:rPr>
              <a:t>Superficial FAQ bots; unable to reason about physical spaces or routes.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Digital Twins &amp; IoT Silos: </a:t>
            </a:r>
            <a:r>
              <a:rPr b="0" sz="1050">
                <a:solidFill>
                  <a:srgbClr val="1F2937"/>
                </a:solidFill>
              </a:rPr>
              <a:t>Isolated 3D visualizers or sensor feeds without unified conversational AI.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The Core Gap: </a:t>
            </a:r>
            <a:r>
              <a:rPr b="0" sz="1050">
                <a:solidFill>
                  <a:srgbClr val="1F2937"/>
                </a:solidFill>
              </a:rPr>
              <a:t>Information exists in silos; no unified intelligence layer connects spaces with everyday campus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2201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D97706"/>
                </a:solidFill>
                <a:latin typeface="Georgia"/>
              </a:defRPr>
            </a:pPr>
            <a:r>
              <a:rPr b="1" sz="1500">
                <a:solidFill>
                  <a:srgbClr val="DC2D2D"/>
                </a:solidFill>
              </a:rPr>
              <a:t>OUR SPATIAL INTELLIGENCE LAYER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WHERE: </a:t>
            </a:r>
            <a:r>
              <a:rPr b="0" sz="1050">
                <a:solidFill>
                  <a:srgbClr val="1F2937"/>
                </a:solidFill>
              </a:rPr>
              <a:t>Precise block, floor, room &amp; indoor coordinate geometry.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WHAT: </a:t>
            </a:r>
            <a:r>
              <a:rPr b="0" sz="1050">
                <a:solidFill>
                  <a:srgbClr val="1F2937"/>
                </a:solidFill>
              </a:rPr>
              <a:t>Deep entity context (room capacity, lab equipment, assets).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WHEN: </a:t>
            </a:r>
            <a:r>
              <a:rPr b="0" sz="1050">
                <a:solidFill>
                  <a:srgbClr val="1F2937"/>
                </a:solidFill>
              </a:rPr>
              <a:t>Dynamic timetable schedules &amp; real-time room availability.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STATE: </a:t>
            </a:r>
            <a:r>
              <a:rPr b="0" sz="1050">
                <a:solidFill>
                  <a:srgbClr val="1F2937"/>
                </a:solidFill>
              </a:rPr>
              <a:t>Current condition, maintenance tickets &amp; operational status.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HOW: </a:t>
            </a:r>
            <a:r>
              <a:rPr b="0" sz="1050">
                <a:solidFill>
                  <a:srgbClr val="1F2937"/>
                </a:solidFill>
              </a:rPr>
              <a:t>Turn-by-turn indoor navigation &amp; accessibility paths.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ACTION: </a:t>
            </a:r>
            <a:r>
              <a:rPr b="0" sz="1050">
                <a:solidFill>
                  <a:srgbClr val="1F2937"/>
                </a:solidFill>
              </a:rPr>
              <a:t>AI agents executing workflows (booking, reporting, alerting).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63040"/>
            <a:ext cx="3322015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16A34A"/>
                </a:solidFill>
                <a:latin typeface="Georgia"/>
              </a:defRPr>
            </a:pPr>
            <a:r>
              <a:rPr b="1" sz="1500">
                <a:solidFill>
                  <a:srgbClr val="DC2D2D"/>
                </a:solidFill>
              </a:rPr>
              <a:t>TECHNICAL STACK &amp; IP VIABILITY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00">
                <a:solidFill>
                  <a:srgbClr val="1F2937"/>
                </a:solidFill>
              </a:rPr>
              <a:t>• Buildable MVP Stack (Current): </a:t>
            </a:r>
            <a:r>
              <a:rPr b="0" sz="100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00">
                <a:solidFill>
                  <a:srgbClr val="1F2937"/>
                </a:solidFill>
              </a:rPr>
              <a:t>  - AI/LLM + Domain RAG Engine: </a:t>
            </a:r>
            <a:r>
              <a:rPr b="0" sz="1000">
                <a:solidFill>
                  <a:srgbClr val="1F2937"/>
                </a:solidFill>
              </a:rPr>
              <a:t>Grounded institutional responses.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00">
                <a:solidFill>
                  <a:srgbClr val="1F2937"/>
                </a:solidFill>
              </a:rPr>
              <a:t>  - Spatial Knowledge Graph: </a:t>
            </a:r>
            <a:r>
              <a:rPr b="0" sz="1000">
                <a:solidFill>
                  <a:srgbClr val="1F2937"/>
                </a:solidFill>
              </a:rPr>
              <a:t>PostgreSQL + PostGIS spatial schema.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00">
                <a:solidFill>
                  <a:srgbClr val="1F2937"/>
                </a:solidFill>
              </a:rPr>
              <a:t>  - Navigation Engine: </a:t>
            </a:r>
            <a:r>
              <a:rPr b="0" sz="1000">
                <a:solidFill>
                  <a:srgbClr val="1F2937"/>
                </a:solidFill>
              </a:rPr>
              <a:t>Indoor floor-plan graph with A* routing.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00">
                <a:solidFill>
                  <a:srgbClr val="1F2937"/>
                </a:solidFill>
              </a:rPr>
              <a:t>  - Asset DB &amp; Timetable API: </a:t>
            </a:r>
            <a:r>
              <a:rPr b="0" sz="1000">
                <a:solidFill>
                  <a:srgbClr val="1F2937"/>
                </a:solidFill>
              </a:rPr>
              <a:t>Live entity data synchronization.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00">
                <a:solidFill>
                  <a:srgbClr val="1F2937"/>
                </a:solidFill>
              </a:rPr>
              <a:t>• Planned Future IP Expansion: </a:t>
            </a:r>
            <a:r>
              <a:rPr b="0" sz="100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000">
                <a:solidFill>
                  <a:srgbClr val="1F2937"/>
                </a:solidFill>
              </a:rPr>
              <a:t>  - BLE &amp; Wi-Fi indoor positioning telemetry.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000">
                <a:solidFill>
                  <a:srgbClr val="1F2937"/>
                </a:solidFill>
              </a:rPr>
              <a:t>  - Computer Vision &amp; 3D Digital Twin visualization.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000">
                <a:solidFill>
                  <a:srgbClr val="1F2937"/>
                </a:solidFill>
              </a:rPr>
              <a:t>  - Predictive maintenance &amp; real-time campus IoT 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Case Study Analysis: Three Successful Startups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MARKET &amp; CASE STUDY ANALYSIS (10 MARKS)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/>
              <a:t>Syllabus Compliance: Business analytics on real-world spatial intelligence, indoor navigation, and digital twin benchmarks.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322015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D97706"/>
                </a:solidFill>
                <a:latin typeface="Georgia"/>
              </a:defRPr>
            </a:pPr>
            <a:r>
              <a:rPr b="1" sz="1400">
                <a:solidFill>
                  <a:srgbClr val="DC2D2D"/>
                </a:solidFill>
              </a:rPr>
              <a:t>BENCHMARK 1: JioXplor Indoor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Target Market: </a:t>
            </a:r>
            <a:r>
              <a:rPr b="0" sz="1050">
                <a:solidFill>
                  <a:srgbClr val="1F2937"/>
                </a:solidFill>
              </a:rPr>
              <a:t>Large campuses, enterprise venues, airports &amp; malls.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Core Solution: </a:t>
            </a:r>
            <a:r>
              <a:rPr b="0" sz="1050">
                <a:solidFill>
                  <a:srgbClr val="1F2937"/>
                </a:solidFill>
              </a:rPr>
              <a:t>High-precision indoor navigation &amp; location intelligence.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Commercial Strength: </a:t>
            </a:r>
            <a:r>
              <a:rPr b="0" sz="1050">
                <a:solidFill>
                  <a:srgbClr val="1F2937"/>
                </a:solidFill>
              </a:rPr>
              <a:t>Proven market demand for precise indoor venue mapping.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KEY STRATEGIC LEARNING: </a:t>
            </a:r>
            <a:r>
              <a:rPr b="0" sz="10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050">
                <a:solidFill>
                  <a:srgbClr val="1F2937"/>
                </a:solidFill>
              </a:rPr>
              <a:t>Validates strong commercial demand for digital indoor wayfinding; our opportunity is adding room, equipment, and schedule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3925" y="1737360"/>
            <a:ext cx="3322015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D97706"/>
                </a:solidFill>
                <a:latin typeface="Georgia"/>
              </a:defRPr>
            </a:pPr>
            <a:r>
              <a:rPr b="1" sz="1400">
                <a:solidFill>
                  <a:srgbClr val="DC2D2D"/>
                </a:solidFill>
              </a:rPr>
              <a:t>BENCHMARK 2: Paathner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Target Market: </a:t>
            </a:r>
            <a:r>
              <a:rPr b="0" sz="1050">
                <a:solidFill>
                  <a:srgbClr val="1F2937"/>
                </a:solidFill>
              </a:rPr>
              <a:t>Higher education campuses, convention halls &amp; venues.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Core Solution: </a:t>
            </a:r>
            <a:r>
              <a:rPr b="0" sz="1050">
                <a:solidFill>
                  <a:srgbClr val="1F2937"/>
                </a:solidFill>
              </a:rPr>
              <a:t>Venue digitization, navigation, visitor engagement &amp; analytics.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Commercial Strength: </a:t>
            </a:r>
            <a:r>
              <a:rPr b="0" sz="1050">
                <a:solidFill>
                  <a:srgbClr val="1F2937"/>
                </a:solidFill>
              </a:rPr>
              <a:t>Comprehensive spatial orchestration and venue analytics.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KEY STRATEGIC LEARNING: </a:t>
            </a:r>
            <a:r>
              <a:rPr b="0" sz="10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050">
                <a:solidFill>
                  <a:srgbClr val="1F2937"/>
                </a:solidFill>
              </a:rPr>
              <a:t>Demonstrates that digitizing campus spaces boosts engagement; combining spatial data with conversational AI creates an enduring moat.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2050" y="1737360"/>
            <a:ext cx="3322015" cy="41148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D97706"/>
                </a:solidFill>
                <a:latin typeface="Georgia"/>
              </a:defRPr>
            </a:pPr>
            <a:r>
              <a:rPr b="1" sz="1400">
                <a:solidFill>
                  <a:srgbClr val="DC2D2D"/>
                </a:solidFill>
              </a:rPr>
              <a:t>BENCHMARK 3: Destinofy / Novalumic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Target Market: </a:t>
            </a:r>
            <a:r>
              <a:rPr b="0" sz="1050">
                <a:solidFill>
                  <a:srgbClr val="1F2937"/>
                </a:solidFill>
              </a:rPr>
              <a:t>Smart buildings, industrial facilities &amp; enterprises.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Core Solution: </a:t>
            </a:r>
            <a:r>
              <a:rPr b="0" sz="1050">
                <a:solidFill>
                  <a:srgbClr val="1F2937"/>
                </a:solidFill>
              </a:rPr>
              <a:t>AI floor-plan understanding &amp; 3D digital twin intelligence.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Commercial Strength: </a:t>
            </a:r>
            <a:r>
              <a:rPr b="0" sz="1050">
                <a:solidFill>
                  <a:srgbClr val="1F2937"/>
                </a:solidFill>
              </a:rPr>
              <a:t>Deep spatial intelligence combined with sensor overlays.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KEY STRATEGIC LEARNING: </a:t>
            </a:r>
            <a:r>
              <a:rPr b="0" sz="10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050">
                <a:solidFill>
                  <a:srgbClr val="1F2937"/>
                </a:solidFill>
              </a:rPr>
              <a:t>Proves industry appetite for AI that understands floor plans; our platform unifies spatial models with operational agent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Competitor Landscape &amp; Market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MARKET &amp; CASE STUDY ANALYSIS (10 MARKS)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298448"/>
          <a:ext cx="10789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50">
                          <a:solidFill>
                            <a:srgbClr val="FFFFFF"/>
                          </a:solidFill>
                        </a:rPr>
                        <a:t>FEATURES / PARAMETERS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50">
                          <a:solidFill>
                            <a:srgbClr val="FFFFFF"/>
                          </a:solidFill>
                        </a:rPr>
                        <a:t>CAMPUS WEBSITE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50">
                          <a:solidFill>
                            <a:srgbClr val="FFFFFF"/>
                          </a:solidFill>
                        </a:rPr>
                        <a:t>CAMPUS ERP</a:t>
                      </a:r>
                    </a:p>
                  </a:txBody>
                  <a:tcPr marL="73152" marR="73152" marT="36576" marB="36576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50">
                          <a:solidFill>
                            <a:srgbClr val="FFFFFF"/>
                          </a:solidFill>
                        </a:rPr>
                        <a:t>STANDALONE NAV</a:t>
                      </a:r>
                    </a:p>
                  </a:txBody>
                  <a:tcPr marL="73152" marR="73152" marT="36576" marB="36576"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b="1" sz="950">
                          <a:solidFill>
                            <a:srgbClr val="FFFFFF"/>
                          </a:solidFill>
                        </a:rPr>
                        <a:t>OUR SPATIAL PLATFORM</a:t>
                      </a:r>
                    </a:p>
                  </a:txBody>
                  <a:tcPr marL="73152" marR="73152" marT="36576" marB="36576">
                    <a:solidFill>
                      <a:srgbClr val="D9770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</a:rPr>
                        <a:t>Campus Spatial Info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Static text / PDFs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Tabular records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Road map only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991B1B"/>
                          </a:solidFill>
                        </a:rPr>
                        <a:t>Unified Spatial Graph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</a:rPr>
                        <a:t>Conversational 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 (Complex menus)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Basic voice search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991B1B"/>
                          </a:solidFill>
                        </a:rPr>
                        <a:t>Natural Language AI + RAG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</a:rPr>
                        <a:t>Indoor Navigation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Outdoor only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991B1B"/>
                          </a:solidFill>
                        </a:rPr>
                        <a:t>Turn-by-Turn Wayfinding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</a:rPr>
                        <a:t>Room &amp; Lab Context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Basic directory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Room code list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Building pin only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991B1B"/>
                          </a:solidFill>
                        </a:rPr>
                        <a:t>Deep Context &amp; Live Availability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</a:rPr>
                        <a:t>Equipment Tracking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Static inventory 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991B1B"/>
                          </a:solidFill>
                        </a:rPr>
                        <a:t>Location + Maintenance State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</a:rPr>
                        <a:t>Timetable Integration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Static schedule PDF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Tabular schedule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991B1B"/>
                          </a:solidFill>
                        </a:rPr>
                        <a:t>Integrated Where + When Search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1F2937"/>
                          </a:solidFill>
                        </a:rPr>
                        <a:t>Actions &amp; AI Agents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Manual form filing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>
                          <a:solidFill>
                            <a:srgbClr val="4B5563"/>
                          </a:solidFill>
                        </a:rPr>
                        <a:t>None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991B1B"/>
                          </a:solidFill>
                        </a:rPr>
                        <a:t>Automated Booking &amp; Alert Workflows</a:t>
                      </a:r>
                    </a:p>
                  </a:txBody>
                  <a:tcPr marL="73152" marR="73152" marT="36576" marB="36576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462272"/>
            <a:ext cx="10820095" cy="1143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rPr b="1" sz="1200">
                <a:solidFill>
                  <a:srgbClr val="DC2D2D"/>
                </a:solidFill>
              </a:rPr>
              <a:t>OUR SUSTAINABLE COMPETITIVE ADVANTAGE: UNIFIED SPATIAL INTELLIGENCE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Unified Spatial Intelligence: </a:t>
            </a:r>
            <a:r>
              <a:rPr b="0" sz="950">
                <a:solidFill>
                  <a:srgbClr val="1F2937"/>
                </a:solidFill>
              </a:rPr>
              <a:t>Traditional systems operate in silos. Our platform seamlessly connects Maps + AI + Spatial Knowledge + Assets + Schedules + Live State + Actions.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Deep Contextual Reasoning: </a:t>
            </a:r>
            <a:r>
              <a:rPr b="0" sz="950">
                <a:solidFill>
                  <a:srgbClr val="1F2937"/>
                </a:solidFill>
              </a:rPr>
              <a:t>Answers complex multi-hop queries ('Where is my next class and what equipment is inside?') that ERPs and navigation apps cannot solve.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Enterprise Extensibility: </a:t>
            </a:r>
            <a:r>
              <a:rPr b="0" sz="950">
                <a:solidFill>
                  <a:srgbClr val="1F2937"/>
                </a:solidFill>
              </a:rPr>
              <a:t>Modular architecture built to expand from college campuses directly into hospitals, factories, and smart enterprise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The Business Model Canvas (9-Block Matrix)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BUSINESS MODEL CANVAS (10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0116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100">
                <a:solidFill>
                  <a:srgbClr val="DC2D2D"/>
                </a:solidFill>
              </a:rPr>
              <a:t>KEY PARTNERS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Universities &amp; Colleges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Mapping &amp; GIS Providers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IoT &amp; BLE Hardware Vendors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Cloud &amp; AI Providers (OpenAI, AWS)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Campus ERP System Vendors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Incubators &amp; Academic CoEs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463040"/>
            <a:ext cx="2194560" cy="29718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100">
                <a:solidFill>
                  <a:srgbClr val="DC2D2D"/>
                </a:solidFill>
              </a:rPr>
              <a:t>VALUE PROPOSITION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Natural language campus interaction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Turn-by-turn indoor wayfinding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Unified room &amp; lab intelligence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Equipment tracking &amp; maintenance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Dynamic timetable &amp; room search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Accessibility routing support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>
                <a:solidFill>
                  <a:srgbClr val="1F2937"/>
                </a:solidFill>
              </a:rPr>
              <a:t>• Future IoT &amp; sensor-ready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463040"/>
            <a:ext cx="2041855" cy="29718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100">
                <a:solidFill>
                  <a:srgbClr val="DC2D2D"/>
                </a:solidFill>
              </a:rPr>
              <a:t>CUSTOMER SEGMENTS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Initial Market (Campuses):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• Colleges &amp; Universities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• Higher-ed institutions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• Large educational campuses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Future Enterprise Expansion: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• Hospitals &amp; Healthcare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• Factories &amp; Manufacturing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• Warehouses &amp; Airports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• Corporate Smart Buildings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463040"/>
            <a:ext cx="2011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050">
                <a:solidFill>
                  <a:srgbClr val="DC2D2D"/>
                </a:solidFill>
              </a:rPr>
              <a:t>KEY ACTIVITIES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Campus mapping &amp; digitization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Spatial Knowledge Graph modeling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AI / RAG fine-tuning &amp; algorithms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Indoor navigation &amp; API integration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AI-agent operational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3017520"/>
            <a:ext cx="2011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050">
                <a:solidFill>
                  <a:srgbClr val="DC2D2D"/>
                </a:solidFill>
              </a:rPr>
              <a:t>KEY RESOURCES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Spatial datasets &amp; floor plans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Spatial Knowledge Graph schemas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Indoor routing &amp; navigation engine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AI models &amp; cloud infra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Engineering &amp; AI development team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63040"/>
            <a:ext cx="2011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050">
                <a:solidFill>
                  <a:srgbClr val="DC2D2D"/>
                </a:solidFill>
              </a:rPr>
              <a:t>CUSTOMER RELATIONSHIPS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B2B SaaS institutional onboarding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Dedicated technical SLA &amp; support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Campus analytics &amp; space insights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Continuous map &amp; asset updates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017520"/>
            <a:ext cx="2011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050">
                <a:solidFill>
                  <a:srgbClr val="DC2D2D"/>
                </a:solidFill>
              </a:rPr>
              <a:t>CHANNELS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Direct B2B institutional sales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College pilot deployments &amp; demos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University consortia &amp; edu expos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00">
                <a:solidFill>
                  <a:srgbClr val="1F2937"/>
                </a:solidFill>
              </a:rPr>
              <a:t>• Incubation centers &amp; CoE networks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72000"/>
            <a:ext cx="530352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100">
                <a:solidFill>
                  <a:srgbClr val="DC2D2D"/>
                </a:solidFill>
              </a:rPr>
              <a:t>COST STRUCTURE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1F2937"/>
                </a:solidFill>
              </a:rPr>
              <a:t>• AI inferencing &amp; cloud infrastructure (AWS/Azure)  |  Software R&amp;D &amp; platform engineering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1F2937"/>
                </a:solidFill>
              </a:rPr>
              <a:t>• Campus mapping, CAD ingestion &amp; data processing  |  Enterprise integration, testing &amp;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572000"/>
            <a:ext cx="5379415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09728" bIns="109728"/>
          <a:lstStyle/>
          <a:p>
            <a:pPr algn="ctr">
              <a:lnSpc>
                <a:spcPct val="100000"/>
              </a:lnSpc>
              <a:spcAft>
                <a:spcPts val="400"/>
              </a:spcAft>
              <a:defRPr sz="1000" b="1">
                <a:solidFill>
                  <a:srgbClr val="1E293B"/>
                </a:solidFill>
                <a:latin typeface="Arial"/>
              </a:defRPr>
            </a:pPr>
            <a:r>
              <a:rPr b="1" sz="1100">
                <a:solidFill>
                  <a:srgbClr val="DC2D2D"/>
                </a:solidFill>
              </a:rPr>
              <a:t>REVENUE STREAMS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1F2937"/>
                </a:solidFill>
              </a:rPr>
              <a:t>• Initial campus setup &amp; floor-plan digitization fee  |  Annual recurring B2B SaaS subscription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1F2937"/>
                </a:solidFill>
              </a:rPr>
              <a:t>• Custom ERP &amp; timetable integration charges  |  Premium spatial analytics &amp; asset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Technical &amp; Financial Feasibility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FEASIBILITY IN INCUBATION CONTEXT (10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b="1" sz="1400">
                <a:solidFill>
                  <a:srgbClr val="DC2D2D"/>
                </a:solidFill>
              </a:rPr>
              <a:t>TECHNICAL FEASIBILITY: BUILDABLE MVP TO HORIZONS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Core MVP Technology Stack: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Frontend: </a:t>
            </a:r>
            <a:r>
              <a:rPr b="0" sz="950">
                <a:solidFill>
                  <a:srgbClr val="1F2937"/>
                </a:solidFill>
              </a:rPr>
              <a:t>React / Next.js responsive web app with interactive map canvas.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Backend: </a:t>
            </a:r>
            <a:r>
              <a:rPr b="0" sz="950">
                <a:solidFill>
                  <a:srgbClr val="1F2937"/>
                </a:solidFill>
              </a:rPr>
              <a:t>Node.js / Express microservices + modular REST &amp; GraphQL APIs.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Spatial Database: </a:t>
            </a:r>
            <a:r>
              <a:rPr b="0" sz="950">
                <a:solidFill>
                  <a:srgbClr val="1F2937"/>
                </a:solidFill>
              </a:rPr>
              <a:t>PostgreSQL + PostGIS for spatial queries, polygons &amp; nodes.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AI &amp; RAG Engine: </a:t>
            </a:r>
            <a:r>
              <a:rPr b="0" sz="950">
                <a:solidFill>
                  <a:srgbClr val="1F2937"/>
                </a:solidFill>
              </a:rPr>
              <a:t>LLM + Vector Embeddings grounded on verified campus data.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Core Innovation: </a:t>
            </a:r>
            <a:r>
              <a:rPr b="0" sz="950">
                <a:solidFill>
                  <a:srgbClr val="1F2937"/>
                </a:solidFill>
              </a:rPr>
              <a:t>Spatial Knowledge Graph linking spaces, assets &amp; schedules.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Navigation Engine: </a:t>
            </a:r>
            <a:r>
              <a:rPr b="0" sz="950">
                <a:solidFill>
                  <a:srgbClr val="1F2937"/>
                </a:solidFill>
              </a:rPr>
              <a:t>Indoor floor-plan graph with A* routing &amp; accessibility weights.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System Architecture Flow: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950">
                <a:solidFill>
                  <a:srgbClr val="1F2937"/>
                </a:solidFill>
              </a:rPr>
              <a:t>  User --&gt; AI Chat Interface --&gt; RAG Engine --&gt; Spatial Knowledge Graph --&gt; Campus Maps/Assets/Timetable --&gt; Navigation &amp; Action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Planned Horizon (Future): </a:t>
            </a:r>
            <a:r>
              <a:rPr b="0" sz="950">
                <a:solidFill>
                  <a:srgbClr val="1F2937"/>
                </a:solidFill>
              </a:rPr>
              <a:t>IoT telemetry, BLE/Wi-Fi positioning, Computer Vision &amp; Digital Twins.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5255" y="1463040"/>
            <a:ext cx="5120640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D97706"/>
                </a:solidFill>
                <a:latin typeface="Georgia"/>
              </a:defRPr>
            </a:pPr>
            <a:r>
              <a:rPr b="1" sz="1400">
                <a:solidFill>
                  <a:srgbClr val="DC2D2D"/>
                </a:solidFill>
              </a:rPr>
              <a:t>FINANCIAL FEASIBILITY: LEAN PROTOTYPE &amp; HIGH MARGINS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Economical Prototype Build: </a:t>
            </a:r>
            <a:r>
              <a:rPr b="0" sz="950">
                <a:solidFill>
                  <a:srgbClr val="1F2937"/>
                </a:solidFill>
              </a:rPr>
              <a:t>Developed with open-source GIS tools (PostGIS) and college CoE lab workstations, keeping upfront R&amp;D costs minimal.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Controlled Cloud &amp; AI Costs: </a:t>
            </a:r>
            <a:r>
              <a:rPr b="0" sz="950">
                <a:solidFill>
                  <a:srgbClr val="1F2937"/>
                </a:solidFill>
              </a:rPr>
              <a:t>Semantic query caching, vector indexing, and tiered model routing reduce token inference expenses by over 60%.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Scalable Commercial Economics: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Onboarding / Setup Fee: </a:t>
            </a:r>
            <a:r>
              <a:rPr b="0" sz="950">
                <a:solidFill>
                  <a:srgbClr val="1F2937"/>
                </a:solidFill>
              </a:rPr>
              <a:t>One-time campus mapping and spatial digitization.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Recurring SaaS License: </a:t>
            </a:r>
            <a:r>
              <a:rPr b="0" sz="950">
                <a:solidFill>
                  <a:srgbClr val="1F2937"/>
                </a:solidFill>
              </a:rPr>
              <a:t>Annual per-campus subscription based on scale.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Enterprise Integrations: </a:t>
            </a:r>
            <a:r>
              <a:rPr b="0" sz="950">
                <a:solidFill>
                  <a:srgbClr val="1F2937"/>
                </a:solidFill>
              </a:rPr>
              <a:t>Custom ERP, timetable, and SIS connectors.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  - Spatial Analytics: </a:t>
            </a:r>
            <a:r>
              <a:rPr b="0" sz="950">
                <a:solidFill>
                  <a:srgbClr val="1F2937"/>
                </a:solidFill>
              </a:rPr>
              <a:t>High-margin add-on for facility &amp; asset utilization.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Operating Leverage: </a:t>
            </a:r>
            <a:r>
              <a:rPr b="0" sz="950">
                <a:solidFill>
                  <a:srgbClr val="1F2937"/>
                </a:solidFill>
              </a:rPr>
              <a:t>Pure software delivery yields gross margins exceeding 75% as institutional adoption multiplies.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Feasibility Decision: </a:t>
            </a:r>
            <a:r>
              <a:rPr b="0" sz="950">
                <a:solidFill>
                  <a:srgbClr val="1F2937"/>
                </a:solidFill>
              </a:rPr>
              <a:t>Highly feasible for immediate MVP build and rapid student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Centre of Excellence (CoE) &amp; Incubation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</a:t>
            </a:r>
            <a:r>
              <a:rPr lang="en-US" sz="900" b="1" dirty="0">
                <a:solidFill>
                  <a:srgbClr val="FFFFFF"/>
                </a:solidFill>
                <a:latin typeface="Arial"/>
              </a:rPr>
              <a:t>FUNDING STRATEGY </a:t>
            </a:r>
            <a:r>
              <a:rPr sz="900" b="1">
                <a:solidFill>
                  <a:srgbClr val="FFFFFF"/>
                </a:solidFill>
                <a:latin typeface="Arial"/>
              </a:rPr>
              <a:t>(10 MARKS)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64748B"/>
                </a:solidFill>
                <a:latin typeface="Arial"/>
              </a:defRPr>
            </a:pPr>
            <a:r>
              <a:t>Syllabus Focus: Mapping your product requirements directly to the college labs, equipment, and incubation ecosystems.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512064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b="1" sz="1500">
                <a:solidFill>
                  <a:srgbClr val="DC2D2D"/>
                </a:solidFill>
              </a:rPr>
              <a:t>COLLEGE COE &amp; LAB INFRASTRUCTURE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Associated Centre of Excellence: </a:t>
            </a:r>
            <a:r>
              <a:rPr b="0" sz="1100">
                <a:solidFill>
                  <a:srgbClr val="1F2937"/>
                </a:solidFill>
              </a:rPr>
              <a:t>Product Development Lab, ESEC.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Prototype Engineering: </a:t>
            </a:r>
            <a:r>
              <a:rPr b="0" sz="1100">
                <a:solidFill>
                  <a:srgbClr val="1F2937"/>
                </a:solidFill>
              </a:rPr>
              <a:t>Leveraging lab workstation infrastructure to design the Spatial Knowledge Graph schemas and A* routing engine.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Real-World Campus Testbed: </a:t>
            </a:r>
            <a:r>
              <a:rPr b="0" sz="1100">
                <a:solidFill>
                  <a:srgbClr val="1F2937"/>
                </a:solidFill>
              </a:rPr>
              <a:t>ESEC campus acts as our living laboratory for surveying blocks, mapping indoor corridors, and cataloging lab assets.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AI &amp; RAG Experimentation: </a:t>
            </a:r>
            <a:r>
              <a:rPr b="0" sz="1100">
                <a:solidFill>
                  <a:srgbClr val="1F2937"/>
                </a:solidFill>
              </a:rPr>
              <a:t>Benchmarking prompt performance, retrieval accuracy, and timetable API synchronization in a controlled setting.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User Validation &amp; Pilot: </a:t>
            </a:r>
            <a:r>
              <a:rPr b="0" sz="1100">
                <a:solidFill>
                  <a:srgbClr val="1F2937"/>
                </a:solidFill>
              </a:rPr>
              <a:t>Conducting structured usability trials with ESEC students, faculty, and administrative staff.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Faculty Mentorship: </a:t>
            </a:r>
            <a:r>
              <a:rPr b="0" sz="1100">
                <a:solidFill>
                  <a:srgbClr val="1F2937"/>
                </a:solidFill>
              </a:rPr>
              <a:t>Direct technical supervision and architectural reviews under Ms. E. Janani (AP/CSE).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5255" y="164592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16A34A"/>
                </a:solidFill>
                <a:latin typeface="Georgia"/>
              </a:defRPr>
            </a:pPr>
            <a:r>
              <a:rPr b="1" sz="1500">
                <a:solidFill>
                  <a:srgbClr val="DC2D2D"/>
                </a:solidFill>
              </a:rPr>
              <a:t>INCUBATION CENTRE VALUE-ADD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Business Model Guidance: </a:t>
            </a:r>
            <a:r>
              <a:rPr b="0" sz="1100">
                <a:solidFill>
                  <a:srgbClr val="1F2937"/>
                </a:solidFill>
              </a:rPr>
              <a:t>Refining B2B SaaS pricing, institutional ROI justification, and enterprise customer acquisition strategies.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Pilot Customer Facilitation: </a:t>
            </a:r>
            <a:r>
              <a:rPr b="0" sz="1100">
                <a:solidFill>
                  <a:srgbClr val="1F2937"/>
                </a:solidFill>
              </a:rPr>
              <a:t>Connecting with campus administration and neighboring educational institutions for live trial deployments.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Industry Mentorship: </a:t>
            </a:r>
            <a:r>
              <a:rPr b="0" sz="1100">
                <a:solidFill>
                  <a:srgbClr val="1F2937"/>
                </a:solidFill>
              </a:rPr>
              <a:t>Advisory sessions from experienced startup founders on B2B sales cycles and enterprise software architecture.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Startup Formalization: </a:t>
            </a:r>
            <a:r>
              <a:rPr b="0" sz="1100">
                <a:solidFill>
                  <a:srgbClr val="1F2937"/>
                </a:solidFill>
              </a:rPr>
              <a:t>Comprehensive support for startup registration, MSME compliance, and software copyright/IP filing.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Grant &amp; Funding Pathways: </a:t>
            </a:r>
            <a:r>
              <a:rPr b="0" sz="1100">
                <a:solidFill>
                  <a:srgbClr val="1F2937"/>
                </a:solidFill>
              </a:rPr>
              <a:t>Preparing investor pitches for student innovation grants, incubation seed support, and venture funds.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1F2937"/>
                </a:solidFill>
              </a:rPr>
              <a:t>• Ecosystem Validation: </a:t>
            </a:r>
            <a:r>
              <a:rPr b="0" sz="1100">
                <a:solidFill>
                  <a:srgbClr val="1F2937"/>
                </a:solidFill>
              </a:rPr>
              <a:t>Transforming academic R&amp;D into a commercially viable, scalable enterprise venture.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Business Opportunity &amp; Scaling Potential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</a:t>
            </a:r>
            <a:r>
              <a:rPr lang="en-US" sz="900" b="1" dirty="0">
                <a:solidFill>
                  <a:srgbClr val="FFFFFF"/>
                </a:solidFill>
                <a:latin typeface="Arial"/>
              </a:rPr>
              <a:t>MARKET STRATEGY </a:t>
            </a:r>
            <a:r>
              <a:rPr sz="900" b="1">
                <a:solidFill>
                  <a:srgbClr val="FFFFFF"/>
                </a:solidFill>
                <a:latin typeface="Arial"/>
              </a:rPr>
              <a:t>(10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0820095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b="1" sz="1600">
                <a:solidFill>
                  <a:srgbClr val="DC2D2D"/>
                </a:solidFill>
              </a:rPr>
              <a:t>START WITH CAMPUSES. BUILD FOR THE PHYSICAL WORLD.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CORE THESIS: "The campus is our entry market — not our final market. We are building an AI intelligence layer for the physical world." </a:t>
            </a:r>
            <a:r>
              <a:rPr b="0" sz="11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Market Reality: </a:t>
            </a:r>
            <a:r>
              <a:rPr b="0" sz="1150">
                <a:solidFill>
                  <a:srgbClr val="1F2937"/>
                </a:solidFill>
              </a:rPr>
              <a:t>Physical environments everywhere suffer from the exact same friction: spaces, assets, schedules, and operations are disconnected and digitally invisible.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PHASE 1: Smart Campuses (Entry Market): </a:t>
            </a:r>
            <a:r>
              <a:rPr b="0" sz="1150">
                <a:solidFill>
                  <a:srgbClr val="1F2937"/>
                </a:solidFill>
              </a:rPr>
              <a:t>Classrooms, labs, blocks, equipment tracking, timetable integration, maintenance ticketing, and turn-by-turn indoor wayfinding. Controlled environment ideal for rapid validation.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PHASE 2: Healthcare &amp; Hospitals: </a:t>
            </a:r>
            <a:r>
              <a:rPr b="0" sz="1150">
                <a:solidFill>
                  <a:srgbClr val="1F2937"/>
                </a:solidFill>
              </a:rPr>
              <a:t>Clinical departments, diagnostic labs, doctor consultation rooms, critical mobile medical equipment tracking, and patient/visitor navigation.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PHASE 3: Smart Factories &amp; Manufacturing: </a:t>
            </a:r>
            <a:r>
              <a:rPr b="0" sz="1150">
                <a:solidFill>
                  <a:srgbClr val="1F2937"/>
                </a:solidFill>
              </a:rPr>
              <a:t>Production bays, heavy machinery assets, maintenance logs, safety compliance protocols, and worker indoor navigation.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PHASE 4: Warehouses, Airports &amp; Smart Buildings: </a:t>
            </a:r>
            <a:r>
              <a:rPr b="0" sz="1150">
                <a:solidFill>
                  <a:srgbClr val="1F2937"/>
                </a:solidFill>
              </a:rPr>
              <a:t>High-throughput logistics hubs, flight gate &amp; terminal wayfinding, automated asset locating, and commercial facility management.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50">
                <a:solidFill>
                  <a:srgbClr val="1F2937"/>
                </a:solidFill>
              </a:rPr>
              <a:t>• Strategic Scalability: </a:t>
            </a:r>
            <a:r>
              <a:rPr b="0" sz="1150">
                <a:solidFill>
                  <a:srgbClr val="1F2937"/>
                </a:solidFill>
              </a:rPr>
              <a:t>Every industry transition leverages the exact same underlying Spatial Knowledge Graph and indoor navigation foundation, expanding our addressable market exponentially.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The 1-Minute Elevator Pitch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</a:t>
            </a:r>
            <a:r>
              <a:rPr lang="en-US" sz="900" b="1" dirty="0">
                <a:solidFill>
                  <a:srgbClr val="FFFFFF"/>
                </a:solidFill>
                <a:latin typeface="Arial"/>
              </a:rPr>
              <a:t>INVESTOR </a:t>
            </a:r>
            <a:r>
              <a:rPr sz="900" b="1">
                <a:solidFill>
                  <a:srgbClr val="FFFFFF"/>
                </a:solidFill>
                <a:latin typeface="Arial"/>
              </a:rPr>
              <a:t>PITCH </a:t>
            </a:r>
            <a:r>
              <a:rPr lang="en-US" sz="900" b="1" dirty="0">
                <a:solidFill>
                  <a:srgbClr val="FFFFFF"/>
                </a:solidFill>
                <a:latin typeface="Arial"/>
              </a:rPr>
              <a:t>DECK</a:t>
            </a:r>
            <a:r>
              <a:rPr sz="900" b="1">
                <a:solidFill>
                  <a:srgbClr val="FFFFFF"/>
                </a:solidFill>
                <a:latin typeface="Arial"/>
              </a:rPr>
              <a:t> (10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0820095" cy="4480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274320" rIns="274320" tIns="228600" bIns="228600"/>
          <a:lstStyle/>
          <a:p>
            <a:pPr algn="ctr">
              <a:lnSpc>
                <a:spcPct val="103000"/>
              </a:lnSpc>
              <a:spcAft>
                <a:spcPts val="12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rPr b="1" sz="1600">
                <a:solidFill>
                  <a:srgbClr val="DC2D2D"/>
                </a:solidFill>
              </a:rPr>
              <a:t>THE 1-MINUTE ELEVATOR PITCH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i="1">
                <a:solidFill>
                  <a:srgbClr val="1F2937"/>
                </a:solidFill>
              </a:rPr>
              <a:t>"Good morning panel members. Today, physical campus information is scattered across static maps, timetables, PDFs, disparate databases, and manual enquiries.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i="1">
                <a:solidFill>
                  <a:srgbClr val="1F2937"/>
                </a:solidFill>
              </a:rPr>
              <a:t>We are building a Spatial Intelligence Platform that gives AI a deep understanding of the physical environment.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i="1">
                <a:solidFill>
                  <a:srgbClr val="1F2937"/>
                </a:solidFill>
              </a:rPr>
              <a:t>Students and staff can simply ask questions in natural language, such as: 'Where is my next class?', 'Is Lab 3 available right now?', or 'Which equipment in this lab is under maintenance?'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i="1">
                <a:solidFill>
                  <a:srgbClr val="1F2937"/>
                </a:solidFill>
              </a:rPr>
              <a:t>Beyond just answering questions, our platform navigates users indoors with turn-by-turn routing, connects equipment and room data, triggers maintenance requests, and prepares campuses for future real-time IoT integration.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i="1">
                <a:solidFill>
                  <a:srgbClr val="1F2937"/>
                </a:solidFill>
              </a:rPr>
              <a:t>We are starting with universities as our initial entry market, but our long-term vision is much larger: expanding into hospitals, factories, warehouses, airports, and smart buildings.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300" i="1">
                <a:solidFill>
                  <a:srgbClr val="1F2937"/>
                </a:solidFill>
              </a:rPr>
              <a:t>Our ultimate goal is to build the AI intelligence layer for the physical world."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Continuous Assessment Roadmap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PITCH &amp; VIVA-VOCE (10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2468880" cy="41148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37160" bIns="137160"/>
          <a:lstStyle/>
          <a:p>
            <a:pPr algn="ctr">
              <a:lnSpc>
                <a:spcPct val="103000"/>
              </a:lnSpc>
              <a:spcBef>
                <a:spcPts val="100"/>
              </a:spcBef>
              <a:spcAft>
                <a:spcPts val="200"/>
              </a:spcAft>
              <a:defRPr sz="1100" b="1">
                <a:solidFill>
                  <a:srgbClr val="D97706"/>
                </a:solidFill>
                <a:latin typeface="Arial"/>
              </a:defRPr>
            </a:pPr>
            <a:r>
              <a:rPr b="1" sz="1400">
                <a:solidFill>
                  <a:srgbClr val="DC2D2D"/>
                </a:solidFill>
              </a:rPr>
              <a:t>WEEK 1 - 6
</a:t>
            </a:r>
            <a:r>
              <a:rPr b="1" sz="1050">
                <a:solidFill>
                  <a:srgbClr val="1F2937"/>
                </a:solidFill>
              </a:rPr>
              <a:t>MILESTONE I: IDEA &amp; SPATIAL VALIDATION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Problem &amp; spatial validation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Competitor study (JioXplor, Paathner)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9-block BMC finalized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CoE resource mapping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Spatial graph schema design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System architecture defined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DC2D2D"/>
                </a:solidFill>
              </a:rPr>
              <a:t>Review I: 50 Marks (Current)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46888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37160" bIns="137160"/>
          <a:lstStyle/>
          <a:p>
            <a:pPr algn="ctr">
              <a:lnSpc>
                <a:spcPct val="103000"/>
              </a:lnSpc>
              <a:spcBef>
                <a:spcPts val="100"/>
              </a:spcBef>
              <a:spcAft>
                <a:spcPts val="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rPr b="1" sz="1400">
                <a:solidFill>
                  <a:srgbClr val="DC2D2D"/>
                </a:solidFill>
              </a:rPr>
              <a:t>WEEK 7 - 12
</a:t>
            </a:r>
            <a:r>
              <a:rPr b="1" sz="1050">
                <a:solidFill>
                  <a:srgbClr val="1F2937"/>
                </a:solidFill>
              </a:rPr>
              <a:t>MILESTONE II: BUILD MVP &amp; CORE AI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Campus map digitization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PostgreSQL + PostGIS setup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AI conversational RAG engine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Basic indoor routing engine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Timetable API integration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Admin asset dashboard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DC2D2D"/>
                </a:solidFill>
              </a:rPr>
              <a:t>Review II: 50 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246888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37160" bIns="137160"/>
          <a:lstStyle/>
          <a:p>
            <a:pPr algn="ctr">
              <a:lnSpc>
                <a:spcPct val="103000"/>
              </a:lnSpc>
              <a:spcBef>
                <a:spcPts val="100"/>
              </a:spcBef>
              <a:spcAft>
                <a:spcPts val="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rPr b="1" sz="1400">
                <a:solidFill>
                  <a:srgbClr val="DC2D2D"/>
                </a:solidFill>
              </a:rPr>
              <a:t>WEEK 13 - 15
</a:t>
            </a:r>
            <a:r>
              <a:rPr b="1" sz="1050">
                <a:solidFill>
                  <a:srgbClr val="1F2937"/>
                </a:solidFill>
              </a:rPr>
              <a:t>MILESTONE III: PROGRESS &amp; ADVANCED V2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Live room availability tracking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Equipment maintenance logging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QR-based waypoint wayfinding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Accessibility routing (ramps)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User testing &amp; feedback at ESEC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Mentorship logs completed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DC2D2D"/>
                </a:solidFill>
              </a:rPr>
              <a:t>Component III: 50 Marks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645920"/>
            <a:ext cx="246888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09728" rIns="109728" tIns="137160" bIns="137160"/>
          <a:lstStyle/>
          <a:p>
            <a:pPr algn="ctr">
              <a:lnSpc>
                <a:spcPct val="103000"/>
              </a:lnSpc>
              <a:spcBef>
                <a:spcPts val="100"/>
              </a:spcBef>
              <a:spcAft>
                <a:spcPts val="20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rPr b="1" sz="1400">
                <a:solidFill>
                  <a:srgbClr val="DC2D2D"/>
                </a:solidFill>
              </a:rPr>
              <a:t>WEEK 16
</a:t>
            </a:r>
            <a:r>
              <a:rPr b="1" sz="1050">
                <a:solidFill>
                  <a:srgbClr val="1F2937"/>
                </a:solidFill>
              </a:rPr>
              <a:t>MILESTONE IV: FULL APP &amp; VISION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Cross-platform responsive app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AI agent workflow demo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Pilot demonstration at ESEC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Multi-industry scaling roadmap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Filing/publication evidence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1F2937"/>
                </a:solidFill>
              </a:rPr>
              <a:t>• Commercialization route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DC2D2D"/>
                </a:solidFill>
              </a:rPr>
              <a:t>Component IV: 50 Marks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 lang="en-US" dirty="0"/>
              <a:t>Risk &amp; Feasibility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</a:t>
            </a:r>
            <a:r>
              <a:rPr lang="en-US" sz="900" b="1" dirty="0">
                <a:solidFill>
                  <a:srgbClr val="FFFFFF"/>
                </a:solidFill>
                <a:latin typeface="Arial"/>
              </a:rPr>
              <a:t>RISK &amp; FEASIBILITY ANALYSIS </a:t>
            </a:r>
            <a:r>
              <a:rPr sz="900" b="1">
                <a:solidFill>
                  <a:srgbClr val="FFFFFF"/>
                </a:solidFill>
                <a:latin typeface="Arial"/>
              </a:rPr>
              <a:t>(10 MARKS)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072222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i="1">
                <a:solidFill>
                  <a:srgbClr val="64748B"/>
                </a:solidFill>
                <a:latin typeface="Arial"/>
              </a:defRPr>
            </a:pPr>
            <a:r>
              <a:rPr lang="en-US" dirty="0"/>
              <a:t>Assessment of technical, financial, market, operational and regulatory risks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512064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rPr b="1" sz="1500">
                <a:solidFill>
                  <a:srgbClr val="DC2D2D"/>
                </a:solidFill>
              </a:rPr>
              <a:t>Risk Identification &amp; Mitigation Matrix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AI Hallucination: </a:t>
            </a:r>
            <a:r>
              <a:rPr b="0" sz="1050">
                <a:solidFill>
                  <a:srgbClr val="1F2937"/>
                </a:solidFill>
              </a:rPr>
              <a:t>Grounded RAG with strict schema validation against verified campus data.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Outdated Information: </a:t>
            </a:r>
            <a:r>
              <a:rPr b="0" sz="1050">
                <a:solidFill>
                  <a:srgbClr val="1F2937"/>
                </a:solidFill>
              </a:rPr>
              <a:t>Role-based admin portals with automated ERP synchronization and audit alerts.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Navigation Errors: </a:t>
            </a:r>
            <a:r>
              <a:rPr b="0" sz="1050">
                <a:solidFill>
                  <a:srgbClr val="1F2937"/>
                </a:solidFill>
              </a:rPr>
              <a:t>Pre-calibrated vector map nodes with physical waypoint verification before rollout.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Privacy &amp; Security: </a:t>
            </a:r>
            <a:r>
              <a:rPr b="0" sz="1050">
                <a:solidFill>
                  <a:srgbClr val="1F2937"/>
                </a:solidFill>
              </a:rPr>
              <a:t>Role-Based Access Control (RBAC), data encryption, minimal personal data collection.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Integration Complexity: </a:t>
            </a:r>
            <a:r>
              <a:rPr b="0" sz="1050">
                <a:solidFill>
                  <a:srgbClr val="1F2937"/>
                </a:solidFill>
              </a:rPr>
              <a:t>Modular, API-first architecture compatible with existing college ERPs.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AI Inferencing Costs: </a:t>
            </a:r>
            <a:r>
              <a:rPr b="0" sz="1050">
                <a:solidFill>
                  <a:srgbClr val="1F2937"/>
                </a:solidFill>
              </a:rPr>
              <a:t>Semantic query caching, model routing, and token usage controls.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Low User Adoption: </a:t>
            </a:r>
            <a:r>
              <a:rPr b="0" sz="1050">
                <a:solidFill>
                  <a:srgbClr val="1F2937"/>
                </a:solidFill>
              </a:rPr>
              <a:t>Pilot rollout at ESEC with physical QR waypoint markers and student ambassador drive.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5255" y="164592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16A34A"/>
                </a:solidFill>
                <a:latin typeface="Georgia"/>
              </a:defRPr>
            </a:pPr>
            <a:r>
              <a:rPr b="1" sz="1500">
                <a:solidFill>
                  <a:srgbClr val="DC2D2D"/>
                </a:solidFill>
              </a:rPr>
              <a:t>Feasibility Assessment &amp; Decision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Technical Feasibility: </a:t>
            </a:r>
            <a:r>
              <a:rPr b="0" sz="1050">
                <a:solidFill>
                  <a:srgbClr val="1F2937"/>
                </a:solidFill>
              </a:rPr>
              <a:t>FEASIBLE — Proven modern stack (React, Node.js, PostGIS, RAG) with clearly bounded MVP scope.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Financial Feasibility: </a:t>
            </a:r>
            <a:r>
              <a:rPr b="0" sz="1050">
                <a:solidFill>
                  <a:srgbClr val="1F2937"/>
                </a:solidFill>
              </a:rPr>
              <a:t>FEASIBLE — Lean prototype built with open-source tools; highly scalable SaaS subscription economics.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Market Feasibility: </a:t>
            </a:r>
            <a:r>
              <a:rPr b="0" sz="1050">
                <a:solidFill>
                  <a:srgbClr val="1F2937"/>
                </a:solidFill>
              </a:rPr>
              <a:t>FEASIBLE — High recurring pain point across universities, with direct scaling pathways into multi-industry enterprise spaces.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Incubation Viability: </a:t>
            </a:r>
            <a:r>
              <a:rPr b="0" sz="1050">
                <a:solidFill>
                  <a:srgbClr val="1F2937"/>
                </a:solidFill>
              </a:rPr>
              <a:t>VALIDATED — Supported by Product Development Lab, ESEC for rapid testing, prototype validation, and pilot feedback.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050">
                <a:solidFill>
                  <a:srgbClr val="1F2937"/>
                </a:solidFill>
              </a:rPr>
              <a:t>• FINAL FEASIBILITY DECISION: </a:t>
            </a:r>
            <a:r>
              <a:rPr b="0" sz="10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050">
                <a:solidFill>
                  <a:srgbClr val="1F2937"/>
                </a:solidFill>
              </a:rPr>
              <a:t>GO — BUILD &amp; VALIDATE MVP IN PRODUCT DEVELOPMENT 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74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rPr/>
              <a:t>REVIEW I: IDEA VALIDATION &amp; BUSINESS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rPr/>
              <a:t>Viva-Voce Preparation: Strategic Q&amp;A Prep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2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217920"/>
            <a:ext cx="10820095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236208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Course: 23MEY06 / 23CSY06 Entrepreneurship &amp; Business Incubation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6263640"/>
            <a:ext cx="3840480" cy="3200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RUBRIC: PITCH &amp; VIVA-VOCE (10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3220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1E293B"/>
                </a:solidFill>
                <a:latin typeface="Georgia"/>
              </a:defRPr>
            </a:pPr>
            <a:r>
              <a:rPr b="1" sz="1400">
                <a:solidFill>
                  <a:srgbClr val="DC2D2D"/>
                </a:solidFill>
              </a:rPr>
              <a:t>HOD'S COMPLIANCE EXPECTATIONS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Focus: </a:t>
            </a:r>
            <a:r>
              <a:rPr b="0" sz="950">
                <a:solidFill>
                  <a:srgbClr val="1F2937"/>
                </a:solidFill>
              </a:rPr>
              <a:t>Syllabus compliance, lab utilization &amp; revenue model.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Q1: Isn't this just Google Maps or a basic chatbot?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950">
                <a:solidFill>
                  <a:srgbClr val="1F2937"/>
                </a:solidFill>
              </a:rPr>
              <a:t>Prep: Google Maps stops outdoors; chatbots only output text. We unify a Spatial Knowledge Graph, indoor routing, room availability, equipment tracking, and operational actions.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Q2: How are CoE lab resources used &amp; what is the revenue model?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950">
                <a:solidFill>
                  <a:srgbClr val="1F2937"/>
                </a:solidFill>
              </a:rPr>
              <a:t>Prep: Product Development Lab provides workstations and campus testbeds. Revenue is generated via initial setup fees, annual SaaS subscriptions, and custom ERP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3925" y="1463040"/>
            <a:ext cx="33220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1E293B"/>
                </a:solidFill>
                <a:latin typeface="Georgia"/>
              </a:defRPr>
            </a:pPr>
            <a:r>
              <a:rPr b="1" sz="1400">
                <a:solidFill>
                  <a:srgbClr val="DC2D2D"/>
                </a:solidFill>
              </a:rPr>
              <a:t>FACULTY TECHNICAL CONCERNS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Focus: </a:t>
            </a:r>
            <a:r>
              <a:rPr b="0" sz="950">
                <a:solidFill>
                  <a:srgbClr val="1F2937"/>
                </a:solidFill>
              </a:rPr>
              <a:t>Technical innovation, graph architecture &amp; feasibility.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Q1: What makes the technology novel?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950">
                <a:solidFill>
                  <a:srgbClr val="1F2937"/>
                </a:solidFill>
              </a:rPr>
              <a:t>Prep: A multi-dimensional Spatial Knowledge Graph connecting Where (location), What (asset), When (schedule), State (condition), How (routing), and Action (AI agents).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Q2: Can a student team realistically build this in 16 weeks?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950">
                <a:solidFill>
                  <a:srgbClr val="1F2937"/>
                </a:solidFill>
              </a:rPr>
              <a:t>Prep: Yes. The MVP relies on accessible technologies (React, Node.js, PostGIS, RAG). Complex horizons like BLE positioning and computer vision are phased into future releases.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2050" y="1463040"/>
            <a:ext cx="332201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lIns="182880" rIns="182880" tIns="182880" b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rPr b="1" sz="1400">
                <a:solidFill>
                  <a:srgbClr val="DC2D2D"/>
                </a:solidFill>
              </a:rPr>
              <a:t>INDUSTRY EXPERT QUESTIONS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Focus: </a:t>
            </a:r>
            <a:r>
              <a:rPr b="0" sz="950">
                <a:solidFill>
                  <a:srgbClr val="1F2937"/>
                </a:solidFill>
              </a:rPr>
              <a:t>Commercial viability, defensibility &amp; scaling potential.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Q1: Who will buy it first and why?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950">
                <a:solidFill>
                  <a:srgbClr val="1F2937"/>
                </a:solidFill>
              </a:rPr>
              <a:t>Prep: Universities and large colleges with distributed infrastructure buy it to reduce manual administrative load, improve student experience, and optimize facility utilization.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950">
                <a:solidFill>
                  <a:srgbClr val="1F2937"/>
                </a:solidFill>
              </a:rPr>
              <a:t>• Q2: What is the long-term defensibility &amp; scaling roadmap? </a:t>
            </a:r>
            <a:r>
              <a:rPr b="0" sz="950">
                <a:solidFill>
                  <a:srgbClr val="1F2937"/>
                </a:solidFill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950">
                <a:solidFill>
                  <a:srgbClr val="1F2937"/>
                </a:solidFill>
              </a:rPr>
              <a:t>Prep: Campus is our entry testbed. Our spatial graph and indoor routing engine scales directly into hospitals, factories, warehouses, and smart buildings.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3057</Words>
  <Application>Microsoft Office PowerPoint</Application>
  <PresentationFormat>Widescreen</PresentationFormat>
  <Paragraphs>293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Karvin R</cp:lastModifiedBy>
  <cp:revision>7</cp:revision>
  <dcterms:created xsi:type="dcterms:W3CDTF">2013-01-27T09:14:16Z</dcterms:created>
  <dcterms:modified xsi:type="dcterms:W3CDTF">2026-09-10T04:34:45Z</dcterms:modified>
  <cp:category/>
</cp:coreProperties>
</file>